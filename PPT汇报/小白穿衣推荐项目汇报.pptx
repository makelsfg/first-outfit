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1296" r="21296"/>
          <a:stretch>
            <a:fillRect/>
          </a:stretch>
        </p:blipFill>
        <p:spPr>
          <a:xfrm>
            <a:off x="6286500" y="0"/>
            <a:ext cx="5905500" cy="6858000"/>
          </a:xfrm>
          <a:custGeom>
            <a:avLst/>
            <a:gdLst/>
            <a:ahLst/>
            <a:cxnLst/>
            <a:rect l="0" t="0" r="0" b="0"/>
            <a:pathLst>
              <a:path w="620" h="720">
                <a:moveTo>
                  <a:pt x="149" y="0"/>
                </a:moveTo>
                <a:lnTo>
                  <a:pt x="620" y="0"/>
                </a:lnTo>
                <a:lnTo>
                  <a:pt x="620" y="720"/>
                </a:lnTo>
                <a:lnTo>
                  <a:pt x="149" y="720"/>
                </a:lnTo>
                <a:close/>
              </a:path>
            </a:pathLst>
          </a:custGeom>
          <a:ln/>
        </p:spPr>
      </p:pic>
      <p:sp>
        <p:nvSpPr>
          <p:cNvPr id="4" name="矩形: 圆角 3"/>
          <p:cNvSpPr/>
          <p:nvPr/>
        </p:nvSpPr>
        <p:spPr>
          <a:xfrm>
            <a:off x="666750" y="400050"/>
            <a:ext cx="3019425" cy="419100"/>
          </a:xfrm>
          <a:prstGeom prst="roundRect">
            <a:avLst>
              <a:gd name="adj" fmla="val 54545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895350" y="495300"/>
            <a:ext cx="25622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F97316"/>
                </a:solidFill>
                <a:latin typeface="PingFang SC"/>
                <a:ea typeface="PingFang SC"/>
              </a:rPr>
              <a:t>课堂项目汇报</a:t>
            </a:r>
            <a:r>
              <a:rPr lang="en-US" sz="1500" b="1" spc="150">
                <a:solidFill>
                  <a:srgbClr val="F97316"/>
                </a:solidFill>
                <a:latin typeface="PingFang SC"/>
                <a:ea typeface="PingFang SC"/>
              </a:rPr>
              <a:t> · </a:t>
            </a:r>
            <a:r>
              <a:rPr lang="zh-CN" sz="1500" b="1" spc="150">
                <a:solidFill>
                  <a:srgbClr val="F97316"/>
                </a:solidFill>
                <a:latin typeface="PingFang SC"/>
                <a:ea typeface="PingFang SC"/>
              </a:rPr>
              <a:t>微信小程序</a:t>
            </a:r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666750" y="1104900"/>
            <a:ext cx="5524500" cy="1819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4950" b="1">
                <a:solidFill>
                  <a:srgbClr val="2B2B33"/>
                </a:solidFill>
                <a:latin typeface="PingFang SC"/>
                <a:ea typeface="PingFang SC"/>
              </a:rPr>
              <a:t>First-Outfit</a:t>
            </a:r>
            <a:endParaRPr/>
          </a:p>
          <a:p>
            <a:pPr>
              <a:lnSpc>
                <a:spcPct val="120000"/>
              </a:lnSpc>
            </a:pPr>
            <a:r>
              <a:rPr lang="zh-CN" sz="4950" b="1">
                <a:solidFill>
                  <a:srgbClr val="2B2B33"/>
                </a:solidFill>
                <a:latin typeface="PingFang SC"/>
                <a:ea typeface="PingFang SC"/>
              </a:rPr>
              <a:t>小白穿衣推荐</a:t>
            </a:r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666750" y="3209925"/>
            <a:ext cx="5524500" cy="885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800">
                <a:solidFill>
                  <a:srgbClr val="6B6B75"/>
                </a:solidFill>
                <a:latin typeface="PingFang SC"/>
                <a:ea typeface="PingFang SC"/>
              </a:rPr>
              <a:t>给曾经和我一样，</a:t>
            </a:r>
            <a:endParaRPr/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6B6B75"/>
                </a:solidFill>
                <a:latin typeface="PingFang SC"/>
                <a:ea typeface="PingFang SC"/>
              </a:rPr>
              <a:t>不知道穿什么才不出错的你。</a:t>
            </a:r>
            <a:endParaRPr/>
          </a:p>
        </p:txBody>
      </p:sp>
      <p:sp>
        <p:nvSpPr>
          <p:cNvPr id="8" name="矩形: 圆角 7"/>
          <p:cNvSpPr/>
          <p:nvPr/>
        </p:nvSpPr>
        <p:spPr>
          <a:xfrm>
            <a:off x="666750" y="46863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276350" y="4610100"/>
            <a:ext cx="2486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dirty="0">
                <a:solidFill>
                  <a:srgbClr val="6B6B75"/>
                </a:solidFill>
                <a:latin typeface="PingFang SC"/>
                <a:ea typeface="PingFang SC"/>
              </a:rPr>
              <a:t>汇报人：</a:t>
            </a:r>
            <a:r>
              <a:rPr lang="en-US" sz="1350" dirty="0">
                <a:solidFill>
                  <a:srgbClr val="6B6B75"/>
                </a:solidFill>
                <a:latin typeface="PingFang SC"/>
                <a:ea typeface="PingFang SC"/>
              </a:rPr>
              <a:t>_</a:t>
            </a:r>
            <a:r>
              <a:rPr lang="zh-CN" altLang="en-US" sz="1350" dirty="0">
                <a:solidFill>
                  <a:srgbClr val="6B6B75"/>
                </a:solidFill>
                <a:latin typeface="PingFang SC"/>
                <a:ea typeface="PingFang SC"/>
              </a:rPr>
              <a:t>第一组</a:t>
            </a:r>
            <a:r>
              <a:rPr lang="en-US" sz="1350" dirty="0">
                <a:solidFill>
                  <a:srgbClr val="6B6B75"/>
                </a:solidFill>
                <a:latin typeface="PingFang SC"/>
                <a:ea typeface="PingFang SC"/>
              </a:rPr>
              <a:t>___</a:t>
            </a:r>
            <a:r>
              <a:rPr lang="zh-CN" sz="1350" dirty="0">
                <a:solidFill>
                  <a:srgbClr val="6B6B75"/>
                </a:solidFill>
                <a:latin typeface="PingFang SC"/>
                <a:ea typeface="PingFang SC"/>
              </a:rPr>
              <a:t>　</a:t>
            </a:r>
            <a:r>
              <a:rPr lang="en-US" sz="1350" dirty="0">
                <a:solidFill>
                  <a:srgbClr val="6B6B75"/>
                </a:solidFill>
                <a:latin typeface="PingFang SC"/>
                <a:ea typeface="PingFang SC"/>
              </a:rPr>
              <a:t>|</a:t>
            </a:r>
            <a:r>
              <a:rPr lang="zh-CN" sz="1350" dirty="0">
                <a:solidFill>
                  <a:srgbClr val="6B6B75"/>
                </a:solidFill>
                <a:latin typeface="PingFang SC"/>
                <a:ea typeface="PingFang SC"/>
              </a:rPr>
              <a:t>　</a:t>
            </a:r>
            <a:r>
              <a:rPr lang="en-US" sz="1350" dirty="0">
                <a:solidFill>
                  <a:srgbClr val="6B6B75"/>
                </a:solidFill>
                <a:latin typeface="PingFang SC"/>
                <a:ea typeface="PingFang SC"/>
              </a:rPr>
              <a:t>2026 </a:t>
            </a:r>
            <a:r>
              <a:rPr lang="zh-CN" sz="1350" dirty="0">
                <a:solidFill>
                  <a:srgbClr val="6B6B75"/>
                </a:solidFill>
                <a:latin typeface="PingFang SC"/>
                <a:ea typeface="PingFang SC"/>
              </a:rPr>
              <a:t>年</a:t>
            </a:r>
            <a:r>
              <a:rPr lang="en-US" sz="1350" dirty="0">
                <a:solidFill>
                  <a:srgbClr val="6B6B75"/>
                </a:solidFill>
                <a:latin typeface="PingFang SC"/>
                <a:ea typeface="PingFang SC"/>
              </a:rPr>
              <a:t> 10 </a:t>
            </a:r>
            <a:r>
              <a:rPr lang="zh-CN" sz="1350" dirty="0">
                <a:solidFill>
                  <a:srgbClr val="6B6B75"/>
                </a:solidFill>
                <a:latin typeface="PingFang SC"/>
                <a:ea typeface="PingFang SC"/>
              </a:rPr>
              <a:t>月</a:t>
            </a:r>
            <a:endParaRPr dirty="0"/>
          </a:p>
        </p:txBody>
      </p:sp>
      <p:sp>
        <p:nvSpPr>
          <p:cNvPr id="10" name="矩形: 圆角 9"/>
          <p:cNvSpPr/>
          <p:nvPr/>
        </p:nvSpPr>
        <p:spPr>
          <a:xfrm>
            <a:off x="666750" y="5486400"/>
            <a:ext cx="1571625" cy="390525"/>
          </a:xfrm>
          <a:prstGeom prst="roundRect">
            <a:avLst>
              <a:gd name="adj" fmla="val 3414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838200" y="5581650"/>
            <a:ext cx="12287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B2B33"/>
                </a:solidFill>
                <a:latin typeface="PingFang SC"/>
                <a:ea typeface="PingFang SC"/>
              </a:rPr>
              <a:t>小程序原生</a:t>
            </a:r>
            <a:r>
              <a:rPr lang="en-US" sz="1275" b="1">
                <a:solidFill>
                  <a:srgbClr val="2B2B33"/>
                </a:solidFill>
                <a:latin typeface="PingFang SC"/>
                <a:ea typeface="PingFang SC"/>
              </a:rPr>
              <a:t> + TS</a:t>
            </a:r>
            <a:endParaRPr/>
          </a:p>
        </p:txBody>
      </p:sp>
      <p:sp>
        <p:nvSpPr>
          <p:cNvPr id="12" name="矩形: 圆角 11"/>
          <p:cNvSpPr/>
          <p:nvPr/>
        </p:nvSpPr>
        <p:spPr>
          <a:xfrm>
            <a:off x="2371725" y="5486400"/>
            <a:ext cx="1152525" cy="390525"/>
          </a:xfrm>
          <a:prstGeom prst="roundRect">
            <a:avLst>
              <a:gd name="adj" fmla="val 3414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2543175" y="5581650"/>
            <a:ext cx="8096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B2B33"/>
                </a:solidFill>
                <a:latin typeface="PingFang SC"/>
                <a:ea typeface="PingFang SC"/>
              </a:rPr>
              <a:t>微信云开发</a:t>
            </a:r>
            <a:endParaRPr/>
          </a:p>
        </p:txBody>
      </p:sp>
      <p:sp>
        <p:nvSpPr>
          <p:cNvPr id="14" name="矩形: 圆角 13"/>
          <p:cNvSpPr/>
          <p:nvPr/>
        </p:nvSpPr>
        <p:spPr>
          <a:xfrm>
            <a:off x="3657600" y="5486400"/>
            <a:ext cx="1390650" cy="390525"/>
          </a:xfrm>
          <a:prstGeom prst="roundRect">
            <a:avLst>
              <a:gd name="adj" fmla="val 3414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3829050" y="5581650"/>
            <a:ext cx="1047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B2B33"/>
                </a:solidFill>
                <a:latin typeface="PingFang SC"/>
                <a:ea typeface="PingFang SC"/>
              </a:rPr>
              <a:t>真实天气</a:t>
            </a:r>
            <a:r>
              <a:rPr lang="en-US" sz="1275" b="1">
                <a:solidFill>
                  <a:srgbClr val="2B2B33"/>
                </a:solidFill>
                <a:latin typeface="PingFang SC"/>
                <a:ea typeface="PingFang SC"/>
              </a:rPr>
              <a:t> + AI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666750" y="6296025"/>
            <a:ext cx="5524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6B6B75"/>
                </a:solidFill>
                <a:latin typeface="PingFang SC"/>
                <a:ea typeface="PingFang SC"/>
              </a:rPr>
              <a:t>今日推荐</a:t>
            </a:r>
            <a:r>
              <a:rPr lang="en-US" sz="1125">
                <a:solidFill>
                  <a:srgbClr val="6B6B75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6B6B75"/>
                </a:solidFill>
                <a:latin typeface="PingFang SC"/>
                <a:ea typeface="PingFang SC"/>
              </a:rPr>
              <a:t>我的衣橱</a:t>
            </a:r>
            <a:r>
              <a:rPr lang="en-US" sz="1125">
                <a:solidFill>
                  <a:srgbClr val="6B6B75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6B6B75"/>
                </a:solidFill>
                <a:latin typeface="PingFang SC"/>
                <a:ea typeface="PingFang SC"/>
              </a:rPr>
              <a:t>客服问答</a:t>
            </a:r>
            <a:r>
              <a:rPr lang="en-US" sz="1125">
                <a:solidFill>
                  <a:srgbClr val="6B6B75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6B6B75"/>
                </a:solidFill>
                <a:latin typeface="PingFang SC"/>
                <a:ea typeface="PingFang SC"/>
              </a:rPr>
              <a:t>个性设置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666750" y="342900"/>
            <a:ext cx="52768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B2B33"/>
                </a:solidFill>
                <a:latin typeface="PingFang SC"/>
                <a:ea typeface="PingFang SC"/>
              </a:rPr>
              <a:t>01 · </a:t>
            </a:r>
            <a:r>
              <a:rPr lang="zh-CN" sz="2550" b="1">
                <a:solidFill>
                  <a:srgbClr val="2B2B33"/>
                </a:solidFill>
                <a:latin typeface="PingFang SC"/>
                <a:ea typeface="PingFang SC"/>
              </a:rPr>
              <a:t>为什么做：从一个真实痛点出发</a:t>
            </a:r>
            <a:endParaRPr/>
          </a:p>
        </p:txBody>
      </p:sp>
      <p:sp>
        <p:nvSpPr>
          <p:cNvPr id="20" name="矩形: 圆角 19"/>
          <p:cNvSpPr/>
          <p:nvPr/>
        </p:nvSpPr>
        <p:spPr>
          <a:xfrm>
            <a:off x="10877550" y="390525"/>
            <a:ext cx="647700" cy="304800"/>
          </a:xfrm>
          <a:prstGeom prst="roundRect">
            <a:avLst>
              <a:gd name="adj" fmla="val 50000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1049000" y="447675"/>
            <a:ext cx="304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97316"/>
                </a:solidFill>
                <a:latin typeface="PingFang SC"/>
                <a:ea typeface="PingFang SC"/>
              </a:rPr>
              <a:t>痛点</a:t>
            </a:r>
            <a:endParaRPr/>
          </a:p>
        </p:txBody>
      </p:sp>
      <p:sp>
        <p:nvSpPr>
          <p:cNvPr id="22" name="矩形: 圆角 21"/>
          <p:cNvSpPr/>
          <p:nvPr/>
        </p:nvSpPr>
        <p:spPr>
          <a:xfrm>
            <a:off x="666750" y="1028700"/>
            <a:ext cx="10858500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952500" y="1371600"/>
            <a:ext cx="428625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F97316"/>
                </a:solidFill>
                <a:latin typeface="PingFang SC"/>
                <a:ea typeface="PingFang SC"/>
              </a:rPr>
              <a:t>“</a:t>
            </a:r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571625" y="1238250"/>
            <a:ext cx="9667875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725">
                <a:solidFill>
                  <a:srgbClr val="2B2B33"/>
                </a:solidFill>
                <a:latin typeface="PingFang SC"/>
                <a:ea typeface="PingFang SC"/>
              </a:rPr>
              <a:t>大一的我，衣柜里衣服不少，却总觉得</a:t>
            </a:r>
            <a:r>
              <a:rPr lang="zh-CN" sz="1725" b="1">
                <a:solidFill>
                  <a:srgbClr val="F97316"/>
                </a:solidFill>
                <a:latin typeface="PingFang SC"/>
                <a:ea typeface="PingFang SC"/>
              </a:rPr>
              <a:t>没衣服穿</a:t>
            </a:r>
            <a:r>
              <a:rPr lang="zh-CN" sz="1725">
                <a:solidFill>
                  <a:srgbClr val="2B2B33"/>
                </a:solidFill>
                <a:latin typeface="PingFang SC"/>
                <a:ea typeface="PingFang SC"/>
              </a:rPr>
              <a:t>——不是不想学穿衣，是</a:t>
            </a:r>
            <a:r>
              <a:rPr lang="zh-CN" sz="1725" b="1">
                <a:solidFill>
                  <a:srgbClr val="2B2B33"/>
                </a:solidFill>
                <a:latin typeface="PingFang SC"/>
                <a:ea typeface="PingFang SC"/>
              </a:rPr>
              <a:t>没人教，也不好意思问</a:t>
            </a:r>
            <a:r>
              <a:rPr lang="zh-CN" sz="1725">
                <a:solidFill>
                  <a:srgbClr val="2B2B33"/>
                </a:solidFill>
                <a:latin typeface="PingFang SC"/>
                <a:ea typeface="PingFang SC"/>
              </a:rPr>
              <a:t>。慢慢试、慢慢看才明白：穿衣不需要天赋，只需要有人告诉你几条最基础的规则。</a:t>
            </a:r>
            <a:endParaRPr/>
          </a:p>
        </p:txBody>
      </p:sp>
      <p:sp>
        <p:nvSpPr>
          <p:cNvPr id="25" name="矩形: 圆角 24"/>
          <p:cNvSpPr/>
          <p:nvPr/>
        </p:nvSpPr>
        <p:spPr>
          <a:xfrm>
            <a:off x="666750" y="2209800"/>
            <a:ext cx="2543175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895350" y="2438400"/>
            <a:ext cx="4762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1504950" y="2524125"/>
            <a:ext cx="9525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2B2B33"/>
                </a:solidFill>
                <a:latin typeface="PingFang SC"/>
                <a:ea typeface="PingFang SC"/>
              </a:rPr>
              <a:t>穿多了热</a:t>
            </a:r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895350" y="3086100"/>
            <a:ext cx="20859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6B6B75"/>
                </a:solidFill>
                <a:latin typeface="PingFang SC"/>
                <a:ea typeface="PingFang SC"/>
              </a:rPr>
              <a:t>天气一变就抓瞎，早晚温差大，只会靠乱加衣服救场。</a:t>
            </a:r>
            <a:endParaRPr/>
          </a:p>
        </p:txBody>
      </p:sp>
      <p:sp>
        <p:nvSpPr>
          <p:cNvPr id="29" name="矩形: 圆角 28"/>
          <p:cNvSpPr/>
          <p:nvPr/>
        </p:nvSpPr>
        <p:spPr>
          <a:xfrm>
            <a:off x="895350" y="4324350"/>
            <a:ext cx="2085975" cy="38100"/>
          </a:xfrm>
          <a:prstGeom prst="roundRect">
            <a:avLst>
              <a:gd name="adj" fmla="val 50000"/>
            </a:avLst>
          </a:prstGeom>
          <a:solidFill>
            <a:srgbClr val="F97316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矩形: 圆角 29"/>
          <p:cNvSpPr/>
          <p:nvPr/>
        </p:nvSpPr>
        <p:spPr>
          <a:xfrm>
            <a:off x="3438525" y="2209800"/>
            <a:ext cx="2543175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3667125" y="2438400"/>
            <a:ext cx="4762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276725" y="2524125"/>
            <a:ext cx="9525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2B2B33"/>
                </a:solidFill>
                <a:latin typeface="PingFang SC"/>
                <a:ea typeface="PingFang SC"/>
              </a:rPr>
              <a:t>穿少了冷</a:t>
            </a:r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3667125" y="3267075"/>
            <a:ext cx="2085975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6B6B75"/>
                </a:solidFill>
                <a:latin typeface="PingFang SC"/>
                <a:ea typeface="PingFang SC"/>
              </a:rPr>
              <a:t>全靠感觉硬扛，冷到了才后悔没多带一件外套。</a:t>
            </a:r>
            <a:endParaRPr/>
          </a:p>
        </p:txBody>
      </p:sp>
      <p:sp>
        <p:nvSpPr>
          <p:cNvPr id="34" name="矩形: 圆角 33"/>
          <p:cNvSpPr/>
          <p:nvPr/>
        </p:nvSpPr>
        <p:spPr>
          <a:xfrm>
            <a:off x="3667125" y="4324350"/>
            <a:ext cx="2085975" cy="38100"/>
          </a:xfrm>
          <a:prstGeom prst="roundRect">
            <a:avLst>
              <a:gd name="adj" fmla="val 50000"/>
            </a:avLst>
          </a:prstGeom>
          <a:solidFill>
            <a:srgbClr val="F97316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矩形: 圆角 34"/>
          <p:cNvSpPr/>
          <p:nvPr/>
        </p:nvSpPr>
        <p:spPr>
          <a:xfrm>
            <a:off x="6210300" y="2209800"/>
            <a:ext cx="2543175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6438900" y="2438400"/>
            <a:ext cx="4762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7048500" y="2524125"/>
            <a:ext cx="119062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2B2B33"/>
                </a:solidFill>
                <a:latin typeface="PingFang SC"/>
                <a:ea typeface="PingFang SC"/>
              </a:rPr>
              <a:t>面试怕随意</a:t>
            </a:r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6438900" y="3086100"/>
            <a:ext cx="20859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6B6B75"/>
                </a:solidFill>
                <a:latin typeface="PingFang SC"/>
                <a:ea typeface="PingFang SC"/>
              </a:rPr>
              <a:t>不知道什么场合该穿什么，正式场合怕显得太随意。</a:t>
            </a:r>
            <a:endParaRPr/>
          </a:p>
        </p:txBody>
      </p:sp>
      <p:sp>
        <p:nvSpPr>
          <p:cNvPr id="39" name="矩形: 圆角 38"/>
          <p:cNvSpPr/>
          <p:nvPr/>
        </p:nvSpPr>
        <p:spPr>
          <a:xfrm>
            <a:off x="6438900" y="4324350"/>
            <a:ext cx="2085975" cy="38100"/>
          </a:xfrm>
          <a:prstGeom prst="roundRect">
            <a:avLst>
              <a:gd name="adj" fmla="val 50000"/>
            </a:avLst>
          </a:prstGeom>
          <a:solidFill>
            <a:srgbClr val="F97316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矩形: 圆角 39"/>
          <p:cNvSpPr/>
          <p:nvPr/>
        </p:nvSpPr>
        <p:spPr>
          <a:xfrm>
            <a:off x="8982075" y="2209800"/>
            <a:ext cx="2543175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9210675" y="2438400"/>
            <a:ext cx="4762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9820275" y="2524125"/>
            <a:ext cx="119062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2B2B33"/>
                </a:solidFill>
                <a:latin typeface="PingFang SC"/>
                <a:ea typeface="PingFang SC"/>
              </a:rPr>
              <a:t>上课怕奇怪</a:t>
            </a:r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9210675" y="3086100"/>
            <a:ext cx="20859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6B6B75"/>
                </a:solidFill>
                <a:latin typeface="PingFang SC"/>
                <a:ea typeface="PingFang SC"/>
              </a:rPr>
              <a:t>穿得太隆重或太随便都会不自在，干脆哪件都别扭。</a:t>
            </a:r>
            <a:endParaRPr/>
          </a:p>
        </p:txBody>
      </p:sp>
      <p:sp>
        <p:nvSpPr>
          <p:cNvPr id="44" name="矩形: 圆角 43"/>
          <p:cNvSpPr/>
          <p:nvPr/>
        </p:nvSpPr>
        <p:spPr>
          <a:xfrm>
            <a:off x="9210675" y="4324350"/>
            <a:ext cx="2085975" cy="38100"/>
          </a:xfrm>
          <a:prstGeom prst="roundRect">
            <a:avLst>
              <a:gd name="adj" fmla="val 50000"/>
            </a:avLst>
          </a:prstGeom>
          <a:solidFill>
            <a:srgbClr val="F97316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矩形: 圆角 44"/>
          <p:cNvSpPr/>
          <p:nvPr/>
        </p:nvSpPr>
        <p:spPr>
          <a:xfrm>
            <a:off x="666750" y="5048250"/>
            <a:ext cx="10858500" cy="1219200"/>
          </a:xfrm>
          <a:prstGeom prst="roundRect">
            <a:avLst>
              <a:gd name="adj" fmla="val 14063"/>
            </a:avLst>
          </a:prstGeom>
          <a:solidFill>
            <a:srgbClr val="2B2B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矩形: 圆角 45"/>
          <p:cNvSpPr/>
          <p:nvPr/>
        </p:nvSpPr>
        <p:spPr>
          <a:xfrm>
            <a:off x="952500" y="5448300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1219200" y="5276850"/>
            <a:ext cx="100203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PingFang SC"/>
                <a:ea typeface="PingFang SC"/>
              </a:rPr>
              <a:t>所以我想做一个工具：它不教你变时尚，只做一件事——</a:t>
            </a:r>
            <a:r>
              <a:rPr lang="zh-CN" sz="1650" b="1">
                <a:solidFill>
                  <a:srgbClr val="F97316"/>
                </a:solidFill>
                <a:latin typeface="PingFang SC"/>
                <a:ea typeface="PingFang SC"/>
              </a:rPr>
              <a:t>告诉你今天穿什么，不会出错</a:t>
            </a:r>
            <a:r>
              <a:rPr lang="zh-CN" sz="1650">
                <a:solidFill>
                  <a:srgbClr val="FFFFFF"/>
                </a:solidFill>
                <a:latin typeface="PingFang SC"/>
                <a:ea typeface="PingFang SC"/>
              </a:rPr>
              <a:t>。目标用户就是和我一样的「穿衣小白」。</a:t>
            </a:r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666750" y="6553200"/>
            <a:ext cx="149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First-Outfit · </a:t>
            </a:r>
            <a:r>
              <a:rPr lang="zh-CN" sz="975">
                <a:solidFill>
                  <a:srgbClr val="9A9AA3"/>
                </a:solidFill>
                <a:latin typeface="PingFang SC"/>
                <a:ea typeface="PingFang SC"/>
              </a:rPr>
              <a:t>小白穿衣推荐</a:t>
            </a:r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11106150" y="65532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02 / 09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66750" y="342900"/>
            <a:ext cx="43053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B2B33"/>
                </a:solidFill>
                <a:latin typeface="PingFang SC"/>
                <a:ea typeface="PingFang SC"/>
              </a:rPr>
              <a:t>02 · </a:t>
            </a:r>
            <a:r>
              <a:rPr lang="zh-CN" sz="2550" b="1">
                <a:solidFill>
                  <a:srgbClr val="2B2B33"/>
                </a:solidFill>
                <a:latin typeface="PingFang SC"/>
                <a:ea typeface="PingFang SC"/>
              </a:rPr>
              <a:t>做了什么：三大核心功能</a:t>
            </a:r>
            <a:endParaRPr/>
          </a:p>
        </p:txBody>
      </p:sp>
      <p:sp>
        <p:nvSpPr>
          <p:cNvPr id="53" name="矩形: 圆角 52"/>
          <p:cNvSpPr/>
          <p:nvPr/>
        </p:nvSpPr>
        <p:spPr>
          <a:xfrm>
            <a:off x="10572750" y="390525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10744200" y="44767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97316"/>
                </a:solidFill>
                <a:latin typeface="PingFang SC"/>
                <a:ea typeface="PingFang SC"/>
              </a:rPr>
              <a:t>功能总览</a:t>
            </a:r>
            <a:endParaRPr/>
          </a:p>
        </p:txBody>
      </p:sp>
      <p:sp>
        <p:nvSpPr>
          <p:cNvPr id="55" name="矩形: 圆角 54"/>
          <p:cNvSpPr/>
          <p:nvPr/>
        </p:nvSpPr>
        <p:spPr>
          <a:xfrm>
            <a:off x="666750" y="1123950"/>
            <a:ext cx="3429000" cy="4895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6" name="矩形: 圆角 55"/>
          <p:cNvSpPr/>
          <p:nvPr/>
        </p:nvSpPr>
        <p:spPr>
          <a:xfrm>
            <a:off x="838200" y="1295400"/>
            <a:ext cx="30861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rcRect t="60" b="42421"/>
          <a:stretch>
            <a:fillRect/>
          </a:stretch>
        </p:blipFill>
        <p:spPr>
          <a:xfrm>
            <a:off x="752642" y="1295400"/>
            <a:ext cx="3086100" cy="2761998"/>
          </a:xfrm>
          <a:custGeom>
            <a:avLst/>
            <a:gdLst/>
            <a:ahLst/>
            <a:cxnLst/>
            <a:rect l="0" t="0" r="0" b="0"/>
            <a:pathLst>
              <a:path w="324" h="300">
                <a:moveTo>
                  <a:pt x="310" y="0"/>
                </a:moveTo>
                <a:cubicBezTo>
                  <a:pt x="318" y="0"/>
                  <a:pt x="324" y="6"/>
                  <a:pt x="324" y="14"/>
                </a:cubicBezTo>
                <a:lnTo>
                  <a:pt x="324" y="286"/>
                </a:lnTo>
                <a:cubicBezTo>
                  <a:pt x="324" y="294"/>
                  <a:pt x="318" y="300"/>
                  <a:pt x="310" y="300"/>
                </a:cubicBezTo>
                <a:lnTo>
                  <a:pt x="14" y="300"/>
                </a:lnTo>
                <a:cubicBezTo>
                  <a:pt x="6" y="300"/>
                  <a:pt x="0" y="294"/>
                  <a:pt x="0" y="286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10" y="0"/>
                </a:lnTo>
                <a:close/>
              </a:path>
            </a:pathLst>
          </a:custGeom>
          <a:ln/>
        </p:spPr>
      </p:pic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838200" y="4267200"/>
            <a:ext cx="3086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2B33"/>
                </a:solidFill>
                <a:latin typeface="PingFang SC"/>
                <a:ea typeface="PingFang SC"/>
              </a:rPr>
              <a:t>今日推荐（首页）</a:t>
            </a:r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838200" y="4638675"/>
            <a:ext cx="308610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定位取真实天气，按「现在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今天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明早」×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5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个场合，给出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3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套可循环方案，每套附「为什么这样穿」的理由和天气提醒。</a:t>
            </a:r>
            <a:endParaRPr/>
          </a:p>
        </p:txBody>
      </p:sp>
      <p:sp>
        <p:nvSpPr>
          <p:cNvPr id="60" name="矩形: 圆角 59"/>
          <p:cNvSpPr/>
          <p:nvPr/>
        </p:nvSpPr>
        <p:spPr>
          <a:xfrm>
            <a:off x="4381500" y="1123950"/>
            <a:ext cx="3429000" cy="4895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1" name="矩形: 圆角 60"/>
          <p:cNvSpPr/>
          <p:nvPr/>
        </p:nvSpPr>
        <p:spPr>
          <a:xfrm>
            <a:off x="4552950" y="1295400"/>
            <a:ext cx="30861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>
            <a:alphaModFix/>
            <a:extLst>
              <a:ext uri="">
                <a14:imgProps xmlns:mc="http://schemas.openxmlformats.org/markup-compatibility/2006" xmlns:a14="http://schemas.microsoft.com/office/drawing/2010/main" xmlns="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</a:extLst>
          </a:blip>
          <a:srcRect l="693" t="3942" r="-693" b="37199"/>
          <a:stretch>
            <a:fillRect/>
          </a:stretch>
        </p:blipFill>
        <p:spPr>
          <a:xfrm>
            <a:off x="4552950" y="1295400"/>
            <a:ext cx="3086100" cy="2857499"/>
          </a:xfrm>
          <a:custGeom>
            <a:avLst/>
            <a:gdLst/>
            <a:ahLst/>
            <a:cxnLst/>
            <a:rect l="0" t="0" r="0" b="0"/>
            <a:pathLst>
              <a:path w="324" h="300">
                <a:moveTo>
                  <a:pt x="310" y="0"/>
                </a:moveTo>
                <a:cubicBezTo>
                  <a:pt x="318" y="0"/>
                  <a:pt x="324" y="6"/>
                  <a:pt x="324" y="14"/>
                </a:cubicBezTo>
                <a:lnTo>
                  <a:pt x="324" y="286"/>
                </a:lnTo>
                <a:cubicBezTo>
                  <a:pt x="324" y="294"/>
                  <a:pt x="318" y="300"/>
                  <a:pt x="310" y="300"/>
                </a:cubicBezTo>
                <a:lnTo>
                  <a:pt x="14" y="300"/>
                </a:lnTo>
                <a:cubicBezTo>
                  <a:pt x="6" y="300"/>
                  <a:pt x="0" y="294"/>
                  <a:pt x="0" y="286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10" y="0"/>
                </a:lnTo>
                <a:close/>
              </a:path>
            </a:pathLst>
          </a:custGeom>
          <a:ln w="12700">
            <a:solidFill>
              <a:srgbClr val="5C5C5C">
                <a:alpha val="100000"/>
              </a:srgbClr>
            </a:solidFill>
            <a:prstDash val="solid"/>
          </a:ln>
        </p:spPr>
      </p:pic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4552950" y="4267200"/>
            <a:ext cx="3086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2B33"/>
                </a:solidFill>
                <a:latin typeface="PingFang SC"/>
                <a:ea typeface="PingFang SC"/>
              </a:rPr>
              <a:t>我的衣橱</a:t>
            </a:r>
            <a:endParaRPr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4552950" y="4638675"/>
            <a:ext cx="3086100" cy="1209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拍照录入衣物（分类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季节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颜色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标签），支持模糊搜索与筛选；推荐时优先用你衣柜里厚薄合适的单品——「衣柜轻打通」。</a:t>
            </a:r>
            <a:endParaRPr/>
          </a:p>
        </p:txBody>
      </p:sp>
      <p:sp>
        <p:nvSpPr>
          <p:cNvPr id="65" name="矩形: 圆角 64"/>
          <p:cNvSpPr/>
          <p:nvPr/>
        </p:nvSpPr>
        <p:spPr>
          <a:xfrm>
            <a:off x="8096250" y="1123950"/>
            <a:ext cx="3429000" cy="4895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8267700" y="1295400"/>
            <a:ext cx="30861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4"/>
          <a:srcRect t="49127" b="-2406"/>
          <a:stretch>
            <a:fillRect/>
          </a:stretch>
        </p:blipFill>
        <p:spPr>
          <a:xfrm>
            <a:off x="8267700" y="1161218"/>
            <a:ext cx="3086100" cy="2991682"/>
          </a:xfrm>
          <a:custGeom>
            <a:avLst/>
            <a:gdLst/>
            <a:ahLst/>
            <a:cxnLst/>
            <a:rect l="0" t="0" r="0" b="0"/>
            <a:pathLst>
              <a:path w="324" h="300">
                <a:moveTo>
                  <a:pt x="310" y="0"/>
                </a:moveTo>
                <a:cubicBezTo>
                  <a:pt x="318" y="0"/>
                  <a:pt x="324" y="6"/>
                  <a:pt x="324" y="14"/>
                </a:cubicBezTo>
                <a:lnTo>
                  <a:pt x="324" y="286"/>
                </a:lnTo>
                <a:cubicBezTo>
                  <a:pt x="324" y="294"/>
                  <a:pt x="318" y="300"/>
                  <a:pt x="310" y="300"/>
                </a:cubicBezTo>
                <a:lnTo>
                  <a:pt x="14" y="300"/>
                </a:lnTo>
                <a:cubicBezTo>
                  <a:pt x="6" y="300"/>
                  <a:pt x="0" y="294"/>
                  <a:pt x="0" y="286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10" y="0"/>
                </a:lnTo>
                <a:close/>
              </a:path>
            </a:pathLst>
          </a:custGeom>
          <a:ln/>
        </p:spPr>
      </p:pic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267700" y="4267200"/>
            <a:ext cx="3086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2B33"/>
                </a:solidFill>
                <a:latin typeface="PingFang SC"/>
                <a:ea typeface="PingFang SC"/>
              </a:rPr>
              <a:t>设置</a:t>
            </a:r>
            <a:r>
              <a:rPr lang="en-US" sz="1650" b="1">
                <a:solidFill>
                  <a:srgbClr val="2B2B33"/>
                </a:solidFill>
                <a:latin typeface="PingFang SC"/>
                <a:ea typeface="PingFang SC"/>
              </a:rPr>
              <a:t> + </a:t>
            </a:r>
            <a:r>
              <a:rPr lang="zh-CN" sz="1650" b="1">
                <a:solidFill>
                  <a:srgbClr val="2B2B33"/>
                </a:solidFill>
                <a:latin typeface="PingFang SC"/>
                <a:ea typeface="PingFang SC"/>
              </a:rPr>
              <a:t>客服问答</a:t>
            </a:r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8267700" y="4638675"/>
            <a:ext cx="308610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性别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年龄段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怕冷程度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出行方式等偏好，全局换肤；右下角悬浮进入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 AI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客服，只答穿搭话题，逐字流式输出。</a:t>
            </a:r>
            <a:endParaRPr/>
          </a:p>
        </p:txBody>
      </p:sp>
      <p:sp>
        <p:nvSpPr>
          <p:cNvPr id="70" name="矩形: 圆角 69"/>
          <p:cNvSpPr/>
          <p:nvPr/>
        </p:nvSpPr>
        <p:spPr>
          <a:xfrm>
            <a:off x="666750" y="5638800"/>
            <a:ext cx="10858500" cy="628650"/>
          </a:xfrm>
          <a:prstGeom prst="roundRect">
            <a:avLst>
              <a:gd name="adj" fmla="val 24242"/>
            </a:avLst>
          </a:prstGeom>
          <a:solidFill>
            <a:srgbClr val="2B2B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矩形: 圆角 70"/>
          <p:cNvSpPr/>
          <p:nvPr/>
        </p:nvSpPr>
        <p:spPr>
          <a:xfrm>
            <a:off x="933450" y="5791200"/>
            <a:ext cx="95250" cy="3238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1181100" y="5848350"/>
            <a:ext cx="5848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无登录、无社交、打开即用：</a:t>
            </a:r>
            <a:r>
              <a:rPr lang="zh-CN" sz="1425" b="1">
                <a:solidFill>
                  <a:srgbClr val="F97316"/>
                </a:solidFill>
                <a:latin typeface="PingFang SC"/>
                <a:ea typeface="PingFang SC"/>
              </a:rPr>
              <a:t>推荐由确定性规则决定</a:t>
            </a: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，</a:t>
            </a:r>
            <a:r>
              <a:rPr lang="en-US" sz="1425">
                <a:solidFill>
                  <a:srgbClr val="FFFFFF"/>
                </a:solidFill>
                <a:latin typeface="PingFang SC"/>
                <a:ea typeface="PingFang SC"/>
              </a:rPr>
              <a:t>AI </a:t>
            </a: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只做问答兜底。</a:t>
            </a:r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666750" y="6553200"/>
            <a:ext cx="149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First-Outfit · </a:t>
            </a:r>
            <a:r>
              <a:rPr lang="zh-CN" sz="975">
                <a:solidFill>
                  <a:srgbClr val="9A9AA3"/>
                </a:solidFill>
                <a:latin typeface="PingFang SC"/>
                <a:ea typeface="PingFang SC"/>
              </a:rPr>
              <a:t>小白穿衣推荐</a:t>
            </a:r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11106150" y="65532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03 / 09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AF7F2', fontFamily: 'PingFang SC, Microsoft YaHei, sans-serif', padding: '0' }}&gt;&#10;    &lt;Box style={{ position: 'absolute', left: 70, top: 30, width: 1140, flexDirection: 'row', justifyContent: 'space-between', alignItems: 'center' }}&gt;&#10;        &lt;Text style={{ fontSize: 34, fontWeight: 'bold', color: '#2B2B33' }}&gt;03 · 亮点一：确定性规则引擎，不让 AI 替你决定穿搭&lt;/Text&gt;&#10;        &lt;Box style={{ background: '#FFDFC2', borderRadius: 16, padding: '6px 18px' }}&gt;&#10;            &lt;Text style={{ fontSize: 16, color: '#F97316', fontWeight: 'bold' }}&gt;技术亮点 1&lt;/Text&gt;&#10;        &lt;/Box&gt;&#10;    &lt;/Box&gt;&#10;    &lt;Box style={{ position: 'absolute', left: 70, top: 108, width: 680, height: 470, background: '#FFFFFF', borderRadius: 20, padding: 24, boxShadow: '0 4px 20px rgba(43,43,51,0.08)' }}&gt;&#10;        &lt;svg width={632} height={426} viewBox='0 0 632 426'&gt;&#10;            &lt;rect x='16' y='8' width='180' height='150' rx='14' fill='#FFE3CC' /&gt;&#10;            &lt;text x='106' y='40' textAnchor='middle' fontSize='20' fontWeight='bold' fill='#2B2B33'&gt;输入条件&lt;/text&gt;&#10;            &lt;text x='106' y='74' textAnchor='middle' fontSize='16' fill='#6B6B75'&gt;实时气温 / 时段&lt;/text&gt;&#10;            &lt;text x='106' y='112' textAnchor='middle' fontSize='16' fill='#6B6B75'&gt;场合 × 5&lt;/text&gt;&#10;            &lt;text x='106' y='138' textAnchor='middle' fontSize='16' fill='#6B6B75'&gt;性别 + 怕冷程度&lt;/text&gt;&#10;            &lt;rect x='246' y='8' width='150' height='150' rx='14' fill='#F97316' /&gt;&#10;            &lt;text x='321' y='76' textAnchor='middle' fontSize='22' fontWeight='bold' fill='#FFFFFF'&gt;规则引擎&lt;/text&gt;&#10;            &lt;text x='321' y='106' textAnchor='middle' fontSize='15' fill='#FFFFFF'&gt;outfitRules.ts&lt;/text&gt;&#10;            &lt;rect x='446' y='8' width='170' height='150' rx='14' fill='#FB923C' /&gt;&#10;            &lt;text x='531' y='40' textAnchor='middle' fontSize='20' fontWeight='bold' fill='#FFFFFF'&gt;输出 3 套方案&lt;/text&gt;&#10;            &lt;text x='531' y='74' textAnchor='middle' fontSize='15' fill='#FFFFFF'&gt;推荐 / 更保暖&lt;/text&gt;&#10;            &lt;text x='531' y='98' textAnchor='middle' fontSize='15' fill='#FFFFFF'&gt;更轻便 / 换个样式&lt;/text&gt;&#10;            &lt;text x='531' y='128' textAnchor='middle' fontSize='15' fill='#FFFFFF'&gt;「换一套 (x/3)」&lt;/text&gt;&#10;            &lt;line x1='196' y1='83' x2='242' y2='83' stroke='#F97316' strokeWidth='3' /&gt;&#10;            &lt;line x1='396' y1='83' x2='442' y2='83' stroke='#F97316' strokeWidth='3' /&gt;&#10;            &lt;rect x='16' y='188' width='600' height='200' rx='14' fill='#FFE3CC' /&gt;&#10;            &lt;text x='40' y='224' fontSize='19' fontWeight='bold' fill='#2B2B33'&gt;每套方案都包含：&lt;/text&gt;&#10;            &lt;text x='40' y='260' fontSize='16' fill='#2B2B33'&gt;· 上装 / 内搭 / 外套 / 下装 / 鞋子 + 一句话结论&lt;/text&gt;&#10;            &lt;text x='40' y='292' fontSize='16' fill='#2B2B33'&gt;· 「为什么这样穿」逐条理由（气温、场合、个人偏好）&lt;/text&gt;&#10;            &lt;text x='40' y='324' fontSize='16' fill='#2B2B33'&gt;· 天气提醒：带伞 / 大风 / 早晚温差 / 防晒&lt;/text&gt;&#10;            &lt;text x='40' y='364' fontSize='16' fill='#F97316' fontWeight='bold'&gt;· 性别硬边界：男 / 未透露绝不出裙装（数据层 + 运行时双重过滤）&lt;/text&gt;&#10;        &lt;/svg&gt;&#10;    &lt;/Box&gt;&#10;    &lt;Box style={{ position: 'absolute', left: 790, top: 108, width: 420, height: 470, background: '#FFFFFF', borderRadius: 20, padding: 18, boxShadow: '0 4px 20px rgba(43,43,51,0.08)', alignItems: 'center' }}&gt;&#10;        &lt;Image src=&quot;assets/shot_reason.png&quot; style={{ width: 230, height: 400, objectFit: 'cover', borderRadius: 12 }} /&gt;&#10;        &lt;Text style={{ fontSize: 16, color: '#6B6B75', marginTop: 12, textAlign: 'center' }}&gt;真实运行：推荐结果 + 逐条推荐理由&lt;/Text&gt;&#10;    &lt;/Box&gt;&#10;    &lt;Box style={{ position: 'absolute', left: 70, top: 600, width: 1140, flexDirection: 'row', gap: 16 }}&gt;&#10;        &lt;Box style={{ flex: 1, background: '#FFE8D6', borderRadius: 14, padding: '12px 20px' }}&gt;&#10;            &lt;Text style={{ fontSize: 17, color: '#2B2B33' }}&gt;天气拿不到 → 按月份退回四季兜底；定位被拒 → 可手动选城市&lt;/Text&gt;&#10;        &lt;/Box&gt;&#10;        &lt;Box style={{ flex: 1, background: '#FFE8D6', borderRadius: 14, padding: '12px 20px' }}&gt;&#10;            &lt;Text style={{ fontSize: 17, color: '#2B2B33' }}&gt;衣柜轻打通：厚薄合适才采用，不合适会「劝退」而不是硬塞&lt;/Text&gt;&#10;        &lt;/Box&gt;&#10;    &lt;/Box&gt;&#10;    &lt;Box style={{ position: 'absolute', left: 70, bottom: 16, width: 1140, flexDirection: 'row', justifyContent: 'space-between' }}&gt;&#10;        &lt;Text style={{ fontSize: 13, color: '#9A9AA3' }}&gt;First-Outfit · 小白穿衣推荐&lt;/Text&gt;&#10;        &lt;Text style={{ fontSize: 13, color: '#9A9AA3' }}&gt;04 / 09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666750" y="285750"/>
            <a:ext cx="77628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B2B33"/>
                </a:solidFill>
                <a:latin typeface="PingFang SC"/>
                <a:ea typeface="PingFang SC"/>
              </a:rPr>
              <a:t>03 · </a:t>
            </a:r>
            <a:r>
              <a:rPr lang="zh-CN" sz="2550" b="1">
                <a:solidFill>
                  <a:srgbClr val="2B2B33"/>
                </a:solidFill>
                <a:latin typeface="PingFang SC"/>
                <a:ea typeface="PingFang SC"/>
              </a:rPr>
              <a:t>亮点一：确定性规则引擎，不让</a:t>
            </a:r>
            <a:r>
              <a:rPr lang="en-US" sz="2550" b="1">
                <a:solidFill>
                  <a:srgbClr val="2B2B33"/>
                </a:solidFill>
                <a:latin typeface="PingFang SC"/>
                <a:ea typeface="PingFang SC"/>
              </a:rPr>
              <a:t> AI </a:t>
            </a:r>
            <a:r>
              <a:rPr lang="zh-CN" sz="2550" b="1">
                <a:solidFill>
                  <a:srgbClr val="2B2B33"/>
                </a:solidFill>
                <a:latin typeface="PingFang SC"/>
                <a:ea typeface="PingFang SC"/>
              </a:rPr>
              <a:t>替你决定穿搭</a:t>
            </a:r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10429875" y="333375"/>
            <a:ext cx="1095375" cy="304800"/>
          </a:xfrm>
          <a:prstGeom prst="roundRect">
            <a:avLst>
              <a:gd name="adj" fmla="val 50000"/>
            </a:avLst>
          </a:prstGeom>
          <a:solidFill>
            <a:srgbClr val="FFDFC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10601325" y="390525"/>
            <a:ext cx="7524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97316"/>
                </a:solidFill>
                <a:latin typeface="PingFang SC"/>
                <a:ea typeface="PingFang SC"/>
              </a:rPr>
              <a:t>技术亮点</a:t>
            </a:r>
            <a:r>
              <a:rPr lang="en-US" sz="1200" b="1">
                <a:solidFill>
                  <a:srgbClr val="F97316"/>
                </a:solidFill>
                <a:latin typeface="PingFang SC"/>
                <a:ea typeface="PingFang SC"/>
              </a:rPr>
              <a:t> 1</a:t>
            </a:r>
            <a:endParaRPr/>
          </a:p>
        </p:txBody>
      </p:sp>
      <p:sp>
        <p:nvSpPr>
          <p:cNvPr id="80" name="矩形: 圆角 79"/>
          <p:cNvSpPr/>
          <p:nvPr/>
        </p:nvSpPr>
        <p:spPr>
          <a:xfrm>
            <a:off x="666750" y="1028700"/>
            <a:ext cx="6477000" cy="44767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1" name="图形 8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350" y="1257300"/>
            <a:ext cx="6019800" cy="4057650"/>
          </a:xfrm>
          <a:prstGeom prst="rect">
            <a:avLst/>
          </a:prstGeom>
          <a:ln/>
        </p:spPr>
      </p:pic>
      <p:sp>
        <p:nvSpPr>
          <p:cNvPr id="82" name="矩形: 圆角 81"/>
          <p:cNvSpPr/>
          <p:nvPr/>
        </p:nvSpPr>
        <p:spPr>
          <a:xfrm>
            <a:off x="7524750" y="1028700"/>
            <a:ext cx="4000500" cy="44767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4"/>
          <a:srcRect t="614" b="614"/>
          <a:stretch>
            <a:fillRect/>
          </a:stretch>
        </p:blipFill>
        <p:spPr>
          <a:xfrm>
            <a:off x="8429625" y="1200150"/>
            <a:ext cx="2190750" cy="3810000"/>
          </a:xfrm>
          <a:prstGeom prst="roundRect">
            <a:avLst>
              <a:gd name="adj" fmla="val 5217"/>
            </a:avLst>
          </a:prstGeom>
          <a:ln/>
        </p:spPr>
      </p:pic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277225" y="5124450"/>
            <a:ext cx="2495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6B6B75"/>
                </a:solidFill>
                <a:latin typeface="PingFang SC"/>
                <a:ea typeface="PingFang SC"/>
              </a:rPr>
              <a:t>真实运行：推荐结果</a:t>
            </a:r>
            <a:r>
              <a:rPr lang="en-US" sz="1200">
                <a:solidFill>
                  <a:srgbClr val="6B6B75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6B6B75"/>
                </a:solidFill>
                <a:latin typeface="PingFang SC"/>
                <a:ea typeface="PingFang SC"/>
              </a:rPr>
              <a:t>逐条推荐理由</a:t>
            </a:r>
            <a:endParaRPr/>
          </a:p>
        </p:txBody>
      </p:sp>
      <p:sp>
        <p:nvSpPr>
          <p:cNvPr id="85" name="矩形: 圆角 84"/>
          <p:cNvSpPr/>
          <p:nvPr/>
        </p:nvSpPr>
        <p:spPr>
          <a:xfrm>
            <a:off x="666750" y="5715000"/>
            <a:ext cx="5353050" cy="428625"/>
          </a:xfrm>
          <a:prstGeom prst="roundRect">
            <a:avLst>
              <a:gd name="adj" fmla="val 31111"/>
            </a:avLst>
          </a:prstGeom>
          <a:solidFill>
            <a:srgbClr val="FFE8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857250" y="5829300"/>
            <a:ext cx="49720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2B2B33"/>
                </a:solidFill>
                <a:latin typeface="PingFang SC"/>
                <a:ea typeface="PingFang SC"/>
              </a:rPr>
              <a:t>天气拿不到</a:t>
            </a:r>
            <a:r>
              <a:rPr lang="en-US" sz="1275">
                <a:solidFill>
                  <a:srgbClr val="2B2B33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2B2B33"/>
                </a:solidFill>
                <a:latin typeface="PingFang SC"/>
                <a:ea typeface="PingFang SC"/>
              </a:rPr>
              <a:t>按月份退回四季兜底；定位被拒</a:t>
            </a:r>
            <a:r>
              <a:rPr lang="en-US" sz="1275">
                <a:solidFill>
                  <a:srgbClr val="2B2B33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2B2B33"/>
                </a:solidFill>
                <a:latin typeface="PingFang SC"/>
                <a:ea typeface="PingFang SC"/>
              </a:rPr>
              <a:t>可手动选城市</a:t>
            </a:r>
            <a:endParaRPr/>
          </a:p>
        </p:txBody>
      </p:sp>
      <p:sp>
        <p:nvSpPr>
          <p:cNvPr id="87" name="矩形: 圆角 86"/>
          <p:cNvSpPr/>
          <p:nvPr/>
        </p:nvSpPr>
        <p:spPr>
          <a:xfrm>
            <a:off x="6172200" y="5715000"/>
            <a:ext cx="5353050" cy="428625"/>
          </a:xfrm>
          <a:prstGeom prst="roundRect">
            <a:avLst>
              <a:gd name="adj" fmla="val 31111"/>
            </a:avLst>
          </a:prstGeom>
          <a:solidFill>
            <a:srgbClr val="FFE8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6362700" y="5829300"/>
            <a:ext cx="49720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2B2B33"/>
                </a:solidFill>
                <a:latin typeface="PingFang SC"/>
                <a:ea typeface="PingFang SC"/>
              </a:rPr>
              <a:t>衣柜轻打通：厚薄合适才采用，不合适会「劝退」而不是硬塞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66750" y="6553200"/>
            <a:ext cx="149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First-Outfit · </a:t>
            </a:r>
            <a:r>
              <a:rPr lang="zh-CN" sz="975">
                <a:solidFill>
                  <a:srgbClr val="9A9AA3"/>
                </a:solidFill>
                <a:latin typeface="PingFang SC"/>
                <a:ea typeface="PingFang SC"/>
              </a:rPr>
              <a:t>小白穿衣推荐</a:t>
            </a:r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11106150" y="65532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04 / 09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AF7F2', fontFamily: 'PingFang SC, Microsoft YaHei, sans-serif', padding: '0' }}&gt;&#10;    &lt;Box style={{ position: 'absolute', left: 70, top: 30, width: 1140, flexDirection: 'row', justifyContent: 'space-between', alignItems: 'center' }}&gt;&#10;        &lt;Text style={{ fontSize: 34, fontWeight: 'bold', color: '#2B2B33' }}&gt;04 · 亮点二：小程序里的「真流式」AI 问答&lt;/Text&gt;&#10;        &lt;Box style={{ background: '#FFDFC2', borderRadius: 16, padding: '6px 18px' }}&gt;&#10;            &lt;Text style={{ fontSize: 16, color: '#F97316', fontWeight: 'bold' }}&gt;技术亮点 2&lt;/Text&gt;&#10;        &lt;/Box&gt;&#10;    &lt;/Box&gt;&#10;    &lt;Box style={{ position: 'absolute', left: 70, top: 104, width: 1140, background: '#FFFFFF', borderRadius: 20, padding: '20px 24px', boxShadow: '0 4px 20px rgba(43,43,51,0.08)' }}&gt;&#10;        &lt;Text style={{ fontSize: 18, color: '#2B2B33', marginBottom: 10 }}&gt;&#10;            难题：&lt;span style={{ fontWeight: 'bold' }}&gt;wx.cloud.callFunction 拿不到流式响应&lt;/span&gt;，接口只能一次性返回 → 用「云函数写库 + 客户端监听」曲线实现&#10;        &lt;/Text&gt;&#10;        &lt;svg width={1092} height={170} viewBox='0 0 1092 170'&gt;&#10;            {[&#10;                { x: 0, t1: '用户提问', t2: '首页悬浮 💬', fill: '#FFE3CC', c: '#2B2B33' },&#10;                { x: 216, t1: '云函数 askLLM', t2: '代理百炼 stream', fill: '#F97316', c: '#FFFFFF' },&#10;                { x: 432, t1: '解析 SSE', t2: '节流写回数据库', fill: '#F97316', c: '#FFFFFF' },&#10;                { x: 648, t1: 'llm_stream 文档', t2: '累积文本更新', fill: '#FB923C', c: '#FFFFFF' },&#10;                { x: 876, t1: 'db.watch() 监听', t2: '逐字渲染 + 光标', fill: '#FB923C', c: '#FFFFFF' },&#10;            ].map((b) =&gt; (&#10;                &lt;g key={b.x}&gt;&#10;                    &lt;rect x={b.x + 4} y='20' width='200' height='110' rx='14' fill={b.fill} /&gt;&#10;                    &lt;text x={b.x + 104} y='66' textAnchor='middle' fontSize='20' fontWeight='bold' fill={b.c}&gt;{b.t1}&lt;/text&gt;&#10;                    &lt;text x={b.x + 104} y='98' textAnchor='middle' fontSize='15' fill={b.c}&gt;{b.t2}&lt;/text&gt;&#10;                &lt;/g&gt;&#10;            ))}&#10;            {[206, 422, 638, 866].map((x) =&gt; (&#10;                &lt;line key={x} x1={x} y1='75' x2={x + 14} y2='75' stroke='#F97316' strokeWidth='4' /&gt;&#10;            ))}&#10;            &lt;text x='546' y='160' textAnchor='middle' fontSize='15' fill='#6B6B75'&gt;效果：提问后先出「正在思考…」，模型一返回就逐字冒出，长回答自动追底&lt;/text&gt;&#10;        &lt;/svg&gt;&#10;    &lt;/Box&gt;&#10;    &lt;Box style={{ position: 'absolute', left: 70, top: 380, width: 1140 }}&gt;&#10;        &lt;Text style={{ fontSize: 22, fontWeight: 'bold', color: '#2B2B33' }}&gt;降级设计：任何环节失败都能出字，不会「炸」&lt;/Text&gt;&#10;    &lt;/Box&gt;&#10;    &lt;Box style={{ position: 'absolute', left: 70, top: 420, width: 1140, flexDirection: 'row', gap: 24 }}&gt;&#10;        {[&#10;            { t: 'watch 失败 / 集合缺失', d: '自动退回「整段返回 + 打字机逐字显示」，任何环境都能出字' },&#10;            { t: '整体 45 秒超时', d: '中断时保留已生成的部分回答，不白等、不丢内容' },&#10;            { t: '对话本地保留 120 条', d: '退出再进来还在；每轮可收起，长对话不刷屏' },&#10;        ].map((c, i) =&gt; (&#10;            &lt;Box key={i} style={{ flex: 1, background: '#FFFFFF', borderRadius: 18, padding: 22, boxShadow: '0 4px 20px rgba(43,43,51,0.08)', height: 196, justifyContent: 'space-between' }}&gt;&#10;                &lt;Text style={{ fontSize: 21, fontWeight: 'bold', color: '#F97316' }}&gt;{c.t}&lt;/Text&gt;&#10;                &lt;Text style={{ fontSize: 18, color: '#2B2B33', lineHeight: 1.55 }}&gt;{c.d}&lt;/Text&gt;&#10;            &lt;/Box&gt;&#10;        ))}&#10;    &lt;/Box&gt;&#10;    &lt;Box style={{ position: 'absolute', left: 70, top: 636, width: 1140, background: '#FB923C', borderRadius: 16, padding: '14px 28px', flexDirection: 'row', alignItems: 'center', gap: 16 }}&gt;&#10;        &lt;Box style={{ width: 10, height: 30, background: '#F97316', borderRadius: 5 }} /&gt;&#10;        &lt;Text style={{ fontSize: 18, color: '#FFFFFF' }}&gt;系统提示词限定话题边界：只回答穿衣搭配，其余话题礼貌拒绝并引回穿搭&lt;/Text&gt;&#10;    &lt;/Box&gt;&#10;    &lt;Box style={{ position: 'absolute', left: 70, bottom: 16, width: 1140, flexDirection: 'row', justifyContent: 'space-between' }}&gt;&#10;        &lt;Text style={{ fontSize: 13, color: '#9A9AA3' }}&gt;First-Outfit · 小白穿衣推荐&lt;/Text&gt;&#10;        &lt;Text style={{ fontSize: 13, color: '#9A9AA3' }}&gt;05 / 09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666750" y="285750"/>
            <a:ext cx="63722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B2B33"/>
                </a:solidFill>
                <a:latin typeface="PingFang SC"/>
                <a:ea typeface="PingFang SC"/>
              </a:rPr>
              <a:t>04 · </a:t>
            </a:r>
            <a:r>
              <a:rPr lang="zh-CN" sz="2550" b="1">
                <a:solidFill>
                  <a:srgbClr val="2B2B33"/>
                </a:solidFill>
                <a:latin typeface="PingFang SC"/>
                <a:ea typeface="PingFang SC"/>
              </a:rPr>
              <a:t>亮点二：小程序里的「真流式」</a:t>
            </a:r>
            <a:r>
              <a:rPr lang="en-US" sz="2550" b="1">
                <a:solidFill>
                  <a:srgbClr val="2B2B33"/>
                </a:solidFill>
                <a:latin typeface="PingFang SC"/>
                <a:ea typeface="PingFang SC"/>
              </a:rPr>
              <a:t>AI </a:t>
            </a:r>
            <a:r>
              <a:rPr lang="zh-CN" sz="2550" b="1">
                <a:solidFill>
                  <a:srgbClr val="2B2B33"/>
                </a:solidFill>
                <a:latin typeface="PingFang SC"/>
                <a:ea typeface="PingFang SC"/>
              </a:rPr>
              <a:t>问答</a:t>
            </a:r>
            <a:endParaRPr/>
          </a:p>
        </p:txBody>
      </p:sp>
      <p:sp>
        <p:nvSpPr>
          <p:cNvPr id="94" name="矩形: 圆角 93"/>
          <p:cNvSpPr/>
          <p:nvPr/>
        </p:nvSpPr>
        <p:spPr>
          <a:xfrm>
            <a:off x="10429875" y="333375"/>
            <a:ext cx="1095375" cy="304800"/>
          </a:xfrm>
          <a:prstGeom prst="roundRect">
            <a:avLst>
              <a:gd name="adj" fmla="val 50000"/>
            </a:avLst>
          </a:prstGeom>
          <a:solidFill>
            <a:srgbClr val="FFDFC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10601325" y="390525"/>
            <a:ext cx="7524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97316"/>
                </a:solidFill>
                <a:latin typeface="PingFang SC"/>
                <a:ea typeface="PingFang SC"/>
              </a:rPr>
              <a:t>技术亮点</a:t>
            </a:r>
            <a:r>
              <a:rPr lang="en-US" sz="1200" b="1">
                <a:solidFill>
                  <a:srgbClr val="F97316"/>
                </a:solidFill>
                <a:latin typeface="PingFang SC"/>
                <a:ea typeface="PingFang SC"/>
              </a:rPr>
              <a:t> 2</a:t>
            </a:r>
            <a:endParaRPr/>
          </a:p>
        </p:txBody>
      </p:sp>
      <p:sp>
        <p:nvSpPr>
          <p:cNvPr id="96" name="矩形: 圆角 95"/>
          <p:cNvSpPr/>
          <p:nvPr/>
        </p:nvSpPr>
        <p:spPr>
          <a:xfrm>
            <a:off x="666750" y="990600"/>
            <a:ext cx="10858500" cy="230505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895350" y="1181100"/>
            <a:ext cx="10401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2B2B33"/>
                </a:solidFill>
                <a:latin typeface="PingFang SC"/>
                <a:ea typeface="PingFang SC"/>
              </a:rPr>
              <a:t>难题：</a:t>
            </a:r>
            <a:r>
              <a:rPr lang="en-US" sz="1350" b="1">
                <a:solidFill>
                  <a:srgbClr val="2B2B33"/>
                </a:solidFill>
                <a:latin typeface="PingFang SC"/>
                <a:ea typeface="PingFang SC"/>
              </a:rPr>
              <a:t>wx.cloud.callFunction </a:t>
            </a:r>
            <a:r>
              <a:rPr lang="zh-CN" sz="1350" b="1">
                <a:solidFill>
                  <a:srgbClr val="2B2B33"/>
                </a:solidFill>
                <a:latin typeface="PingFang SC"/>
                <a:ea typeface="PingFang SC"/>
              </a:rPr>
              <a:t>拿不到流式响应</a:t>
            </a:r>
            <a:r>
              <a:rPr lang="zh-CN" sz="1350">
                <a:solidFill>
                  <a:srgbClr val="2B2B33"/>
                </a:solidFill>
                <a:latin typeface="PingFang SC"/>
                <a:ea typeface="PingFang SC"/>
              </a:rPr>
              <a:t>，接口只能一次性返回</a:t>
            </a:r>
            <a:r>
              <a:rPr lang="en-US" sz="1350">
                <a:solidFill>
                  <a:srgbClr val="2B2B33"/>
                </a:solidFill>
                <a:latin typeface="PingFang SC"/>
                <a:ea typeface="PingFang SC"/>
              </a:rPr>
              <a:t> → </a:t>
            </a:r>
            <a:r>
              <a:rPr lang="zh-CN" sz="1350">
                <a:solidFill>
                  <a:srgbClr val="2B2B33"/>
                </a:solidFill>
                <a:latin typeface="PingFang SC"/>
                <a:ea typeface="PingFang SC"/>
              </a:rPr>
              <a:t>用「云函数写库</a:t>
            </a:r>
            <a:r>
              <a:rPr lang="en-US" sz="1350">
                <a:solidFill>
                  <a:srgbClr val="2B2B33"/>
                </a:solidFill>
                <a:latin typeface="PingFang SC"/>
                <a:ea typeface="PingFang SC"/>
              </a:rPr>
              <a:t> + </a:t>
            </a:r>
            <a:r>
              <a:rPr lang="zh-CN" sz="1350">
                <a:solidFill>
                  <a:srgbClr val="2B2B33"/>
                </a:solidFill>
                <a:latin typeface="PingFang SC"/>
                <a:ea typeface="PingFang SC"/>
              </a:rPr>
              <a:t>客户端监听」曲线实现</a:t>
            </a:r>
            <a:endParaRPr/>
          </a:p>
        </p:txBody>
      </p:sp>
      <p:pic>
        <p:nvPicPr>
          <p:cNvPr id="98" name="图形 9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350" y="1485900"/>
            <a:ext cx="10401300" cy="1619250"/>
          </a:xfrm>
          <a:prstGeom prst="rect">
            <a:avLst/>
          </a:prstGeom>
          <a:ln/>
        </p:spPr>
      </p:pic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666750" y="3619500"/>
            <a:ext cx="10858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2B33"/>
                </a:solidFill>
                <a:latin typeface="PingFang SC"/>
                <a:ea typeface="PingFang SC"/>
              </a:rPr>
              <a:t>降级设计：任何环节失败都能出字，不会「炸」</a:t>
            </a:r>
            <a:endParaRPr/>
          </a:p>
        </p:txBody>
      </p:sp>
      <p:sp>
        <p:nvSpPr>
          <p:cNvPr id="100" name="矩形: 圆角 99"/>
          <p:cNvSpPr/>
          <p:nvPr/>
        </p:nvSpPr>
        <p:spPr>
          <a:xfrm>
            <a:off x="666750" y="4000500"/>
            <a:ext cx="3467100" cy="186690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876300" y="4210050"/>
            <a:ext cx="3048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97316"/>
                </a:solidFill>
                <a:latin typeface="PingFang SC"/>
                <a:ea typeface="PingFang SC"/>
              </a:rPr>
              <a:t>watch </a:t>
            </a:r>
            <a:r>
              <a:rPr lang="zh-CN" sz="1575" b="1">
                <a:solidFill>
                  <a:srgbClr val="F97316"/>
                </a:solidFill>
                <a:latin typeface="PingFang SC"/>
                <a:ea typeface="PingFang SC"/>
              </a:rPr>
              <a:t>失败</a:t>
            </a:r>
            <a:r>
              <a:rPr lang="en-US" sz="1575" b="1">
                <a:solidFill>
                  <a:srgbClr val="F97316"/>
                </a:solidFill>
                <a:latin typeface="PingFang SC"/>
                <a:ea typeface="PingFang SC"/>
              </a:rPr>
              <a:t> / </a:t>
            </a:r>
            <a:r>
              <a:rPr lang="zh-CN" sz="1575" b="1">
                <a:solidFill>
                  <a:srgbClr val="F97316"/>
                </a:solidFill>
                <a:latin typeface="PingFang SC"/>
                <a:ea typeface="PingFang SC"/>
              </a:rPr>
              <a:t>集合缺失</a:t>
            </a:r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876300" y="5019675"/>
            <a:ext cx="30480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2B2B33"/>
                </a:solidFill>
                <a:latin typeface="PingFang SC"/>
                <a:ea typeface="PingFang SC"/>
              </a:rPr>
              <a:t>自动退回「整段返回</a:t>
            </a:r>
            <a:r>
              <a:rPr lang="en-US" sz="1350">
                <a:solidFill>
                  <a:srgbClr val="2B2B33"/>
                </a:solidFill>
                <a:latin typeface="PingFang SC"/>
                <a:ea typeface="PingFang SC"/>
              </a:rPr>
              <a:t> + </a:t>
            </a:r>
            <a:r>
              <a:rPr lang="zh-CN" sz="1350">
                <a:solidFill>
                  <a:srgbClr val="2B2B33"/>
                </a:solidFill>
                <a:latin typeface="PingFang SC"/>
                <a:ea typeface="PingFang SC"/>
              </a:rPr>
              <a:t>打字机逐字显示」，任何环境都能出字</a:t>
            </a:r>
            <a:endParaRPr/>
          </a:p>
        </p:txBody>
      </p:sp>
      <p:sp>
        <p:nvSpPr>
          <p:cNvPr id="103" name="矩形: 圆角 102"/>
          <p:cNvSpPr/>
          <p:nvPr/>
        </p:nvSpPr>
        <p:spPr>
          <a:xfrm>
            <a:off x="4362450" y="4000500"/>
            <a:ext cx="3467100" cy="186690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4572000" y="4210050"/>
            <a:ext cx="3048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97316"/>
                </a:solidFill>
                <a:latin typeface="PingFang SC"/>
                <a:ea typeface="PingFang SC"/>
              </a:rPr>
              <a:t>整体</a:t>
            </a:r>
            <a:r>
              <a:rPr lang="en-US" sz="1575" b="1">
                <a:solidFill>
                  <a:srgbClr val="F97316"/>
                </a:solidFill>
                <a:latin typeface="PingFang SC"/>
                <a:ea typeface="PingFang SC"/>
              </a:rPr>
              <a:t> 45 </a:t>
            </a:r>
            <a:r>
              <a:rPr lang="zh-CN" sz="1575" b="1">
                <a:solidFill>
                  <a:srgbClr val="F97316"/>
                </a:solidFill>
                <a:latin typeface="PingFang SC"/>
                <a:ea typeface="PingFang SC"/>
              </a:rPr>
              <a:t>秒超时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4572000" y="5019675"/>
            <a:ext cx="30480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2B2B33"/>
                </a:solidFill>
                <a:latin typeface="PingFang SC"/>
                <a:ea typeface="PingFang SC"/>
              </a:rPr>
              <a:t>中断时保留已生成的部分回答，不白等、不丢内容</a:t>
            </a:r>
            <a:endParaRPr/>
          </a:p>
        </p:txBody>
      </p:sp>
      <p:sp>
        <p:nvSpPr>
          <p:cNvPr id="106" name="矩形: 圆角 105"/>
          <p:cNvSpPr/>
          <p:nvPr/>
        </p:nvSpPr>
        <p:spPr>
          <a:xfrm>
            <a:off x="8058150" y="4000500"/>
            <a:ext cx="3467100" cy="186690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8267700" y="4210050"/>
            <a:ext cx="3048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97316"/>
                </a:solidFill>
                <a:latin typeface="PingFang SC"/>
                <a:ea typeface="PingFang SC"/>
              </a:rPr>
              <a:t>对话本地保留</a:t>
            </a:r>
            <a:r>
              <a:rPr lang="en-US" sz="1575" b="1">
                <a:solidFill>
                  <a:srgbClr val="F97316"/>
                </a:solidFill>
                <a:latin typeface="PingFang SC"/>
                <a:ea typeface="PingFang SC"/>
              </a:rPr>
              <a:t> 120 </a:t>
            </a:r>
            <a:r>
              <a:rPr lang="zh-CN" sz="1575" b="1">
                <a:solidFill>
                  <a:srgbClr val="F97316"/>
                </a:solidFill>
                <a:latin typeface="PingFang SC"/>
                <a:ea typeface="PingFang SC"/>
              </a:rPr>
              <a:t>条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8267700" y="5019675"/>
            <a:ext cx="30480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2B2B33"/>
                </a:solidFill>
                <a:latin typeface="PingFang SC"/>
                <a:ea typeface="PingFang SC"/>
              </a:rPr>
              <a:t>退出再进来还在；每轮可收起，长对话不刷屏</a:t>
            </a:r>
            <a:endParaRPr/>
          </a:p>
        </p:txBody>
      </p:sp>
      <p:sp>
        <p:nvSpPr>
          <p:cNvPr id="109" name="矩形: 圆角 108"/>
          <p:cNvSpPr/>
          <p:nvPr/>
        </p:nvSpPr>
        <p:spPr>
          <a:xfrm>
            <a:off x="666750" y="6057900"/>
            <a:ext cx="10858500" cy="552450"/>
          </a:xfrm>
          <a:prstGeom prst="roundRect">
            <a:avLst>
              <a:gd name="adj" fmla="val 27586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" name="矩形: 圆角 109"/>
          <p:cNvSpPr/>
          <p:nvPr/>
        </p:nvSpPr>
        <p:spPr>
          <a:xfrm>
            <a:off x="933450" y="6191250"/>
            <a:ext cx="95250" cy="2857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1181100" y="6229350"/>
            <a:ext cx="56578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PingFang SC"/>
                <a:ea typeface="PingFang SC"/>
              </a:rPr>
              <a:t>系统提示词限定话题边界：只回答穿衣搭配，其余话题礼貌拒绝并引回穿搭</a:t>
            </a:r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66750" y="6553200"/>
            <a:ext cx="149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First-Outfit · </a:t>
            </a:r>
            <a:r>
              <a:rPr lang="zh-CN" sz="975">
                <a:solidFill>
                  <a:srgbClr val="9A9AA3"/>
                </a:solidFill>
                <a:latin typeface="PingFang SC"/>
                <a:ea typeface="PingFang SC"/>
              </a:rPr>
              <a:t>小白穿衣推荐</a:t>
            </a:r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1106150" y="65532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05 / 09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AF7F2', fontFamily: 'PingFang SC, Microsoft YaHei, sans-serif', padding: '0' }}&gt;&#10;    &lt;Box style={{ position: 'absolute', left: 70, top: 30, width: 1140, flexDirection: 'row', justifyContent: 'space-between', alignItems: 'center' }}&gt;&#10;        &lt;Text style={{ fontSize: 34, fontWeight: 'bold', color: '#2B2B33' }}&gt;05 · S.C.A.F.F. 项目分析&lt;/Text&gt;&#10;        &lt;Box style={{ background: '#F97316', borderRadius: 16, padding: '6px 18px' }}&gt;&#10;            &lt;Text style={{ fontSize: 16, color: '#FFFFFF', fontWeight: 'bold' }}&gt;核心分析框架&lt;/Text&gt;&#10;        &lt;/Box&gt;&#10;    &lt;/Box&gt;&#10;    &lt;Box style={{ position: 'absolute', left: 70, top: 96, width: 1140, flexDirection: 'row', gap: 14 }}&gt;&#10;        &lt;Box style={{ flex: 1, height: 420, background: '#F97316', borderRadius: 18, padding: 18, justifyContent: 'flex-start', gap: 4 }}&gt;&#10;            &lt;Text style={{ fontSize: 60, fontWeight: 'bold', color: '#FFFFFF' }}&gt;S&lt;/Text&gt;&#10;            &lt;Text style={{ fontSize: 19, fontWeight: 'bold', color: '#FFFFFF' }}&gt;Situation 场景&lt;/Text&gt;&#10;            &lt;Text style={{ fontSize: 15, color: '#FFFFFF', lineHeight: 1.5 }}&gt;穿衣小白的日常决策难题：不知道天气穿什么、场合穿什么；现有 App 偏时尚向，对新手不友好。技术现状：小程序原生 + TS，微信云开发，无自建服务器。&lt;/Text&gt;&#10;        &lt;/Box&gt;&#10;        &lt;Box style={{ flex: 1, height: 420, background: '#FB923C', borderRadius: 18, padding: 18, justifyContent: 'flex-start', gap: 4 }}&gt;&#10;            &lt;Text style={{ fontSize: 60, fontWeight: 'bold', color: '#FFFFFF' }}&gt;C&lt;/Text&gt;&#10;            &lt;Text style={{ fontSize: 19, fontWeight: 'bold', color: '#FFFFFF' }}&gt;Challenge 挑战&lt;/Text&gt;&#10;            &lt;Text style={{ fontSize: 14, color: '#FFFFFF', lineHeight: 1.55 }}&gt;· 定位被拒 / API 失败 → 四季兜底 + 手动选城市&lt;br /&gt;· 拿不到流式响应 → 写库 + watch 曲线实现&lt;br /&gt;· 衣柜打通 → 厚薄差 ≤1.2 + 打分 ≥1，否则劝退&lt;br /&gt;· 性别边界 → 数据层 + 运行时双重过滤&lt;/Text&gt;&#10;        &lt;/Box&gt;&#10;        &lt;Box style={{ flex: 1, height: 420, background: '#FFFFFF', borderRadius: 18, padding: 18, boxShadow: '0 4px 20px rgba(43,43,51,0.08)', justifyContent: 'flex-start', gap: 4 }}&gt;&#10;            &lt;Text style={{ fontSize: 60, fontWeight: 'bold', color: '#F9B384' }}&gt;A&lt;/Text&gt;&#10;            &lt;Text style={{ fontSize: 19, fontWeight: 'bold', color: '#2B2B33' }}&gt;Audience 受众&lt;/Text&gt;&#10;            &lt;Text style={{ fontSize: 15, color: '#2B2B33', lineHeight: 1.5 }}&gt;产品受众：不懂穿衣的大学生，需要零门槛、被鼓励的引导。汇报受众：同学与老师，讲清「问题 → 方案 → 取舍」逻辑链，多用图示截图、少堆术语。&lt;/Text&gt;&#10;        &lt;/Box&gt;&#10;        &lt;Box style={{ flex: 1, height: 420, background: '#FFE3CC', borderRadius: 18, padding: 18, justifyContent: 'flex-start', gap: 4 }}&gt;&#10;            &lt;Text style={{ fontSize: 60, fontWeight: 'bold', color: '#F97316' }}&gt;F&lt;/Text&gt;&#10;            &lt;Text style={{ fontSize: 19, fontWeight: 'bold', color: '#2B2B33' }}&gt;Format 形式&lt;/Text&gt;&#10;            &lt;Text style={{ fontSize: 15, color: '#2B2B33', lineHeight: 1.5 }}&gt;规则引擎输出结构化方案：五类单品 + 一句话结论 + 逐条理由 + 天气提醒。本次汇报：架构图 + 截图 + 短句要点，每页只放一个核心信息。&lt;/Text&gt;&#10;        &lt;/Box&gt;&#10;        &lt;Box style={{ flex: 1, height: 420, background: '#FB923C', borderRadius: 18, padding: 18, justifyContent: 'flex-start', gap: 4 }}&gt;&#10;            &lt;Text style={{ fontSize: 60, fontWeight: 'bold', color: '#FFFFFF' }}&gt;F&lt;/Text&gt;&#10;            &lt;Text style={{ fontSize: 19, fontWeight: 'bold', color: '#FFFFFF' }}&gt;Foundations 原则&lt;/Text&gt;&#10;            &lt;Text style={{ fontSize: 14, color: '#FFFFFF', lineHeight: 1.55 }}&gt;· 不评判：永远鼓励，不质疑用户&lt;br /&gt;· 给兜底：外部依赖失效有安全方案&lt;br /&gt;· 解释为什么：方案附理由&lt;br /&gt;· 极简：无登录无社交，打开即用&lt;/Text&gt;&#10;        &lt;/Box&gt;&#10;    &lt;/Box&gt;&#10;    &lt;Box style={{ position: 'absolute', left: 70, top: 548, width: 1140, background: '#FB923C', borderRadius: 16, padding: '18px 28px', flexDirection: 'row', alignItems: 'center', gap: 16 }}&gt;&#10;        &lt;Box style={{ width: 10, height: 36, background: '#FFFFFF', borderRadius: 5 }} /&gt;&#10;        &lt;Text style={{ fontSize: 19, color: '#FFFFFF' }}&gt;一句话总结：把「穿衣小白不知道穿什么」的真实场景，用&lt;span style={{ color: '#F97316', fontWeight: 'bold' }}&gt;可解释的规则 + 有兜底的 AI&lt;/span&gt; 做成一个极简工具。&lt;/Text&gt;&#10;    &lt;/Box&gt;&#10;    &lt;Box style={{ position: 'absolute', left: 70, bottom: 16, width: 1140, flexDirection: 'row', justifyContent: 'space-between' }}&gt;&#10;        &lt;Text style={{ fontSize: 13, color: '#9A9AA3' }}&gt;First-Outfit · 小白穿衣推荐&lt;/Text&gt;&#10;        &lt;Text style={{ fontSize: 13, color: '#9A9AA3' }}&gt;06 / 09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矩形 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66750" y="285750"/>
            <a:ext cx="3562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B2B33"/>
                </a:solidFill>
                <a:latin typeface="PingFang SC"/>
                <a:ea typeface="PingFang SC"/>
              </a:rPr>
              <a:t>05 · S.C.A.F.F. </a:t>
            </a:r>
            <a:r>
              <a:rPr lang="zh-CN" sz="2550" b="1">
                <a:solidFill>
                  <a:srgbClr val="2B2B33"/>
                </a:solidFill>
                <a:latin typeface="PingFang SC"/>
                <a:ea typeface="PingFang SC"/>
              </a:rPr>
              <a:t>项目分析</a:t>
            </a:r>
            <a:endParaRPr/>
          </a:p>
        </p:txBody>
      </p:sp>
      <p:sp>
        <p:nvSpPr>
          <p:cNvPr id="117" name="矩形: 圆角 116"/>
          <p:cNvSpPr/>
          <p:nvPr/>
        </p:nvSpPr>
        <p:spPr>
          <a:xfrm>
            <a:off x="10267950" y="333375"/>
            <a:ext cx="12573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10439400" y="390525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核心分析框架</a:t>
            </a:r>
            <a:endParaRPr/>
          </a:p>
        </p:txBody>
      </p:sp>
      <p:sp>
        <p:nvSpPr>
          <p:cNvPr id="119" name="矩形: 圆角 118"/>
          <p:cNvSpPr/>
          <p:nvPr/>
        </p:nvSpPr>
        <p:spPr>
          <a:xfrm>
            <a:off x="666750" y="914400"/>
            <a:ext cx="2066925" cy="4000500"/>
          </a:xfrm>
          <a:prstGeom prst="roundRect">
            <a:avLst>
              <a:gd name="adj" fmla="val 8295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838200" y="1085850"/>
            <a:ext cx="1724025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FFFFF"/>
                </a:solidFill>
                <a:latin typeface="PingFang SC"/>
                <a:ea typeface="PingFang SC"/>
              </a:rPr>
              <a:t>S</a:t>
            </a:r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838200" y="1809750"/>
            <a:ext cx="17240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Situation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场景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838200" y="2066925"/>
            <a:ext cx="1724025" cy="1543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/>
                </a:solidFill>
                <a:latin typeface="PingFang SC"/>
                <a:ea typeface="PingFang SC"/>
              </a:rPr>
              <a:t>穿衣小白的日常决策难题：不知道天气穿什么、场合穿什么；现有</a:t>
            </a:r>
            <a:r>
              <a:rPr lang="en-US" sz="1125">
                <a:solidFill>
                  <a:srgbClr val="FFFFFF"/>
                </a:solidFill>
                <a:latin typeface="PingFang SC"/>
                <a:ea typeface="PingFang SC"/>
              </a:rPr>
              <a:t> App </a:t>
            </a:r>
            <a:r>
              <a:rPr lang="zh-CN" sz="1125">
                <a:solidFill>
                  <a:srgbClr val="FFFFFF"/>
                </a:solidFill>
                <a:latin typeface="PingFang SC"/>
                <a:ea typeface="PingFang SC"/>
              </a:rPr>
              <a:t>偏时尚向，对新手不友好。技术现状：小程序原生</a:t>
            </a:r>
            <a:r>
              <a:rPr lang="en-US" sz="1125">
                <a:solidFill>
                  <a:srgbClr val="FFFFFF"/>
                </a:solidFill>
                <a:latin typeface="PingFang SC"/>
                <a:ea typeface="PingFang SC"/>
              </a:rPr>
              <a:t> + TS</a:t>
            </a:r>
            <a:r>
              <a:rPr lang="zh-CN" sz="1125">
                <a:solidFill>
                  <a:srgbClr val="FFFFFF"/>
                </a:solidFill>
                <a:latin typeface="PingFang SC"/>
                <a:ea typeface="PingFang SC"/>
              </a:rPr>
              <a:t>，微信云开发，无自建服务器。</a:t>
            </a:r>
            <a:endParaRPr/>
          </a:p>
        </p:txBody>
      </p:sp>
      <p:sp>
        <p:nvSpPr>
          <p:cNvPr id="123" name="矩形: 圆角 122"/>
          <p:cNvSpPr/>
          <p:nvPr/>
        </p:nvSpPr>
        <p:spPr>
          <a:xfrm>
            <a:off x="2867025" y="914400"/>
            <a:ext cx="2066925" cy="4000500"/>
          </a:xfrm>
          <a:prstGeom prst="roundRect">
            <a:avLst>
              <a:gd name="adj" fmla="val 8295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3038475" y="1085850"/>
            <a:ext cx="1724025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FFFFF"/>
                </a:solidFill>
                <a:latin typeface="PingFang SC"/>
                <a:ea typeface="PingFang SC"/>
              </a:rPr>
              <a:t>C</a:t>
            </a:r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3038475" y="1809750"/>
            <a:ext cx="17240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Challenge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挑战</a:t>
            </a:r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3038475" y="2066925"/>
            <a:ext cx="1724025" cy="1990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·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定位被拒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/ API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失败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四季兜底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手动选城市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·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拿不到流式响应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写库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+ watch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曲线实现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·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衣柜打通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厚薄差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≤1.2 +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打分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≥1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，否则劝退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·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性别边界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数据层</a:t>
            </a: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运行时双重过滤</a:t>
            </a:r>
            <a:endParaRPr/>
          </a:p>
        </p:txBody>
      </p:sp>
      <p:sp>
        <p:nvSpPr>
          <p:cNvPr id="127" name="矩形: 圆角 126"/>
          <p:cNvSpPr/>
          <p:nvPr/>
        </p:nvSpPr>
        <p:spPr>
          <a:xfrm>
            <a:off x="5067300" y="914400"/>
            <a:ext cx="2057400" cy="4000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5238750" y="1085850"/>
            <a:ext cx="171450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9B384"/>
                </a:solidFill>
                <a:latin typeface="PingFang SC"/>
                <a:ea typeface="PingFang SC"/>
              </a:rPr>
              <a:t>A</a:t>
            </a:r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5238750" y="1809750"/>
            <a:ext cx="1714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B2B33"/>
                </a:solidFill>
                <a:latin typeface="PingFang SC"/>
                <a:ea typeface="PingFang SC"/>
              </a:rPr>
              <a:t>Audience </a:t>
            </a:r>
            <a:r>
              <a:rPr lang="zh-CN" sz="1425" b="1">
                <a:solidFill>
                  <a:srgbClr val="2B2B33"/>
                </a:solidFill>
                <a:latin typeface="PingFang SC"/>
                <a:ea typeface="PingFang SC"/>
              </a:rPr>
              <a:t>受众</a:t>
            </a:r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238750" y="2066925"/>
            <a:ext cx="1714500" cy="1543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B33"/>
                </a:solidFill>
                <a:latin typeface="PingFang SC"/>
                <a:ea typeface="PingFang SC"/>
              </a:rPr>
              <a:t>产品受众：不懂穿衣的大学生，需要零门槛、被鼓励的引导。汇报受众：同学与老师，讲清「问题</a:t>
            </a:r>
            <a:r>
              <a:rPr lang="en-US" sz="1125">
                <a:solidFill>
                  <a:srgbClr val="2B2B33"/>
                </a:solidFill>
                <a:latin typeface="PingFang SC"/>
                <a:ea typeface="PingFang SC"/>
              </a:rPr>
              <a:t> → </a:t>
            </a:r>
            <a:r>
              <a:rPr lang="zh-CN" sz="1125">
                <a:solidFill>
                  <a:srgbClr val="2B2B33"/>
                </a:solidFill>
                <a:latin typeface="PingFang SC"/>
                <a:ea typeface="PingFang SC"/>
              </a:rPr>
              <a:t>方案</a:t>
            </a:r>
            <a:r>
              <a:rPr lang="en-US" sz="1125">
                <a:solidFill>
                  <a:srgbClr val="2B2B33"/>
                </a:solidFill>
                <a:latin typeface="PingFang SC"/>
                <a:ea typeface="PingFang SC"/>
              </a:rPr>
              <a:t> → </a:t>
            </a:r>
            <a:r>
              <a:rPr lang="zh-CN" sz="1125">
                <a:solidFill>
                  <a:srgbClr val="2B2B33"/>
                </a:solidFill>
                <a:latin typeface="PingFang SC"/>
                <a:ea typeface="PingFang SC"/>
              </a:rPr>
              <a:t>取舍」逻辑链，多用图示截图、少堆术语。</a:t>
            </a:r>
            <a:endParaRPr/>
          </a:p>
        </p:txBody>
      </p:sp>
      <p:sp>
        <p:nvSpPr>
          <p:cNvPr id="131" name="矩形: 圆角 130"/>
          <p:cNvSpPr/>
          <p:nvPr/>
        </p:nvSpPr>
        <p:spPr>
          <a:xfrm>
            <a:off x="7258050" y="914400"/>
            <a:ext cx="2066925" cy="4000500"/>
          </a:xfrm>
          <a:prstGeom prst="roundRect">
            <a:avLst>
              <a:gd name="adj" fmla="val 8295"/>
            </a:avLst>
          </a:prstGeom>
          <a:solidFill>
            <a:srgbClr val="FFE3C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7429500" y="1085850"/>
            <a:ext cx="1724025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97316"/>
                </a:solidFill>
                <a:latin typeface="PingFang SC"/>
                <a:ea typeface="PingFang SC"/>
              </a:rPr>
              <a:t>F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7429500" y="1809750"/>
            <a:ext cx="17240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B2B33"/>
                </a:solidFill>
                <a:latin typeface="PingFang SC"/>
                <a:ea typeface="PingFang SC"/>
              </a:rPr>
              <a:t>Format </a:t>
            </a:r>
            <a:r>
              <a:rPr lang="zh-CN" sz="1425" b="1">
                <a:solidFill>
                  <a:srgbClr val="2B2B33"/>
                </a:solidFill>
                <a:latin typeface="PingFang SC"/>
                <a:ea typeface="PingFang SC"/>
              </a:rPr>
              <a:t>形式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7429500" y="2066925"/>
            <a:ext cx="1724025" cy="1543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2B2B33"/>
                </a:solidFill>
                <a:latin typeface="PingFang SC"/>
                <a:ea typeface="PingFang SC"/>
              </a:rPr>
              <a:t>规则引擎输出结构化方案：五类单品</a:t>
            </a:r>
            <a:r>
              <a:rPr lang="en-US" sz="1125">
                <a:solidFill>
                  <a:srgbClr val="2B2B33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2B2B33"/>
                </a:solidFill>
                <a:latin typeface="PingFang SC"/>
                <a:ea typeface="PingFang SC"/>
              </a:rPr>
              <a:t>一句话结论</a:t>
            </a:r>
            <a:r>
              <a:rPr lang="en-US" sz="1125">
                <a:solidFill>
                  <a:srgbClr val="2B2B33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2B2B33"/>
                </a:solidFill>
                <a:latin typeface="PingFang SC"/>
                <a:ea typeface="PingFang SC"/>
              </a:rPr>
              <a:t>逐条理由</a:t>
            </a:r>
            <a:r>
              <a:rPr lang="en-US" sz="1125">
                <a:solidFill>
                  <a:srgbClr val="2B2B33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2B2B33"/>
                </a:solidFill>
                <a:latin typeface="PingFang SC"/>
                <a:ea typeface="PingFang SC"/>
              </a:rPr>
              <a:t>天气提醒。本次汇报：架构图</a:t>
            </a:r>
            <a:r>
              <a:rPr lang="en-US" sz="1125">
                <a:solidFill>
                  <a:srgbClr val="2B2B33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2B2B33"/>
                </a:solidFill>
                <a:latin typeface="PingFang SC"/>
                <a:ea typeface="PingFang SC"/>
              </a:rPr>
              <a:t>截图</a:t>
            </a:r>
            <a:r>
              <a:rPr lang="en-US" sz="1125">
                <a:solidFill>
                  <a:srgbClr val="2B2B33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2B2B33"/>
                </a:solidFill>
                <a:latin typeface="PingFang SC"/>
                <a:ea typeface="PingFang SC"/>
              </a:rPr>
              <a:t>短句要点，每页只放一个核心信息。</a:t>
            </a:r>
            <a:endParaRPr/>
          </a:p>
        </p:txBody>
      </p:sp>
      <p:sp>
        <p:nvSpPr>
          <p:cNvPr id="135" name="矩形: 圆角 134"/>
          <p:cNvSpPr/>
          <p:nvPr/>
        </p:nvSpPr>
        <p:spPr>
          <a:xfrm>
            <a:off x="9458325" y="914400"/>
            <a:ext cx="2066925" cy="4000500"/>
          </a:xfrm>
          <a:prstGeom prst="roundRect">
            <a:avLst>
              <a:gd name="adj" fmla="val 8295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9629775" y="1085850"/>
            <a:ext cx="1724025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FFFFF"/>
                </a:solidFill>
                <a:latin typeface="PingFang SC"/>
                <a:ea typeface="PingFang SC"/>
              </a:rPr>
              <a:t>F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9629775" y="1809750"/>
            <a:ext cx="17240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Foundations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原则</a:t>
            </a:r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9629775" y="2066925"/>
            <a:ext cx="1724025" cy="1743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·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不评判：永远鼓励，不质疑用户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·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给兜底：外部依赖失效有安全方案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·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解释为什么：方案附理由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FFFFFF"/>
                </a:solidFill>
                <a:latin typeface="PingFang SC"/>
                <a:ea typeface="PingFang SC"/>
              </a:rPr>
              <a:t>· </a:t>
            </a:r>
            <a:r>
              <a:rPr lang="zh-CN" sz="1050">
                <a:solidFill>
                  <a:srgbClr val="FFFFFF"/>
                </a:solidFill>
                <a:latin typeface="PingFang SC"/>
                <a:ea typeface="PingFang SC"/>
              </a:rPr>
              <a:t>极简：无登录无社交，打开即用</a:t>
            </a:r>
            <a:endParaRPr/>
          </a:p>
        </p:txBody>
      </p:sp>
      <p:sp>
        <p:nvSpPr>
          <p:cNvPr id="139" name="矩形: 圆角 138"/>
          <p:cNvSpPr/>
          <p:nvPr/>
        </p:nvSpPr>
        <p:spPr>
          <a:xfrm>
            <a:off x="666750" y="5219700"/>
            <a:ext cx="10858500" cy="685800"/>
          </a:xfrm>
          <a:prstGeom prst="roundRect">
            <a:avLst>
              <a:gd name="adj" fmla="val 22222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矩形: 圆角 139"/>
          <p:cNvSpPr/>
          <p:nvPr/>
        </p:nvSpPr>
        <p:spPr>
          <a:xfrm>
            <a:off x="933450" y="5391150"/>
            <a:ext cx="9525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1181100" y="5457825"/>
            <a:ext cx="86963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一句话总结：把「穿衣小白不知道穿什么」的真实场景，用</a:t>
            </a:r>
            <a:r>
              <a:rPr lang="zh-CN" sz="1425" b="1">
                <a:solidFill>
                  <a:srgbClr val="F97316"/>
                </a:solidFill>
                <a:latin typeface="PingFang SC"/>
                <a:ea typeface="PingFang SC"/>
              </a:rPr>
              <a:t>可解释的规则</a:t>
            </a:r>
            <a:r>
              <a:rPr lang="en-US" sz="1425" b="1">
                <a:solidFill>
                  <a:srgbClr val="F97316"/>
                </a:solidFill>
                <a:latin typeface="PingFang SC"/>
                <a:ea typeface="PingFang SC"/>
              </a:rPr>
              <a:t> + </a:t>
            </a:r>
            <a:r>
              <a:rPr lang="zh-CN" sz="1425" b="1">
                <a:solidFill>
                  <a:srgbClr val="F97316"/>
                </a:solidFill>
                <a:latin typeface="PingFang SC"/>
                <a:ea typeface="PingFang SC"/>
              </a:rPr>
              <a:t>有兜底的</a:t>
            </a:r>
            <a:r>
              <a:rPr lang="en-US" sz="1425" b="1">
                <a:solidFill>
                  <a:srgbClr val="F97316"/>
                </a:solidFill>
                <a:latin typeface="PingFang SC"/>
                <a:ea typeface="PingFang SC"/>
              </a:rPr>
              <a:t> AI</a:t>
            </a:r>
            <a:r>
              <a:rPr lang="en-US" sz="1425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做成一个极简工具。</a:t>
            </a:r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666750" y="6553200"/>
            <a:ext cx="149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First-Outfit · </a:t>
            </a:r>
            <a:r>
              <a:rPr lang="zh-CN" sz="975">
                <a:solidFill>
                  <a:srgbClr val="9A9AA3"/>
                </a:solidFill>
                <a:latin typeface="PingFang SC"/>
                <a:ea typeface="PingFang SC"/>
              </a:rPr>
              <a:t>小白穿衣推荐</a:t>
            </a:r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11106150" y="65532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06 / 09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AF7F2', fontFamily: 'PingFang SC, Microsoft YaHei, sans-serif', padding: '0' }}&gt;&#10;    &lt;Box style={{ position: 'absolute', left: 70, top: 30, width: 1140, flexDirection: 'row', justifyContent: 'space-between', alignItems: 'center' }}&gt;&#10;        &lt;Text style={{ fontSize: 34, fontWeight: 'bold', color: '#2B2B33' }}&gt;06 · 技术底座：三层架构，无自建服务器&lt;/Text&gt;&#10;        &lt;Box style={{ background: '#FFDFC2', borderRadius: 16, padding: '6px 18px' }}&gt;&#10;            &lt;Text style={{ fontSize: 16, color: '#F97316', fontWeight: 'bold' }}&gt;架构&lt;/Text&gt;&#10;        &lt;/Box&gt;&#10;    &lt;/Box&gt;&#10;    &lt;Box style={{ position: 'absolute', left: 70, top: 106, width: 820, background: '#FFFFFF', borderRadius: 20, padding: 20, boxShadow: '0 4px 20px rgba(43,43,51,0.08)' }}&gt;&#10;        &lt;svg width={780} height={470} viewBox='0 0 780 470'&gt;&#10;            &lt;rect x='10' y='14' width='760' height='120' rx='16' fill='#FFE3CC' stroke='#F97316' strokeWidth='2' /&gt;&#10;            &lt;text x='30' y='46' fontSize='20' fontWeight='bold' fill='#2B2B33'&gt;① 小程序端（TypeScript）&lt;/text&gt;&#10;            &lt;text x='30' y='80' fontSize='15.5' fill='#2B2B33'&gt;pages：今日推荐 / 我的衣橱 / 客服问答 / 设置&lt;/text&gt;&#10;            &lt;text x='30' y='108' fontSize='15.5' fill='#2B2B33'&gt;utils：outfitRules 规则引擎 · weather 天气 · llm 流式封装 · wardrobe 衣橱&lt;/text&gt;&#10;            &lt;rect x='10' y='176' width='760' height='120' rx='16' fill='#F97316' /&gt;&#10;            &lt;text x='30' y='208' fontSize='20' fontWeight='bold' fill='#FFFFFF'&gt;② 微信云函数（密钥全在服务端）&lt;/text&gt;&#10;            &lt;text x='30' y='242' fontSize='15.5' fill='#FFFFFF'&gt;getWeather 代理高德 · askLLM 代理百炼 · initData 建集合 · submitFeedback&lt;/text&gt;&#10;            &lt;text x='30' y='270' fontSize='15.5' fill='#FFF3E8'&gt;云数据库（衣物 / 对话 / 流式缓冲）+ 云存储（衣物照片）&lt;/text&gt;&#10;            &lt;rect x='10' y='338' width='760' height='120' rx='16' fill='#FB923C' /&gt;&#10;            &lt;text x='30' y='370' fontSize='20' fontWeight='bold' fill='#FFFFFF'&gt;③ 第三方服务&lt;/text&gt;&#10;            &lt;text x='30' y='404' fontSize='15.5' fill='#FFFFFF'&gt;高德开放平台：逆地理编码 + 实况/预报天气&lt;/text&gt;&#10;            &lt;text x='30' y='432' fontSize='15.5' fill='#FFFFFF'&gt;阿里云百炼 DashScope：DeepSeek 模型（OpenAI 兼容接口，stream: true）&lt;/text&gt;&#10;            &lt;line x1='390' y1='134' x2='390' y2='172' stroke='#F97316' strokeWidth='4' /&gt;&#10;            &lt;line x1='390' y1='296' x2='390' y2='334' stroke='#F97316' strokeWidth='4' /&gt;&#10;        &lt;/svg&gt;&#10;    &lt;/Box&gt;&#10;    &lt;Box style={{ position: 'absolute', left: 930, top: 106, width: 280, height: 510, gap: 20 }}&gt;&#10;        &lt;Box style={{ background: '#FB923C', borderRadius: 20, padding: 24, flex: 1, justifyContent: 'center' }}&gt;&#10;            &lt;Text style={{ fontSize: 88, fontWeight: 'bold', color: '#F97316' }}&gt;0&lt;/Text&gt;&#10;            &lt;Text style={{ fontSize: 19, color: '#FFFFFF', lineHeight: 1.5 }}&gt;台自建服务器&lt;br /&gt;全部跑在微信云开发上&lt;/Text&gt;&#10;        &lt;/Box&gt;&#10;        &lt;Box style={{ background: '#FFFFFF', borderRadius: 20, padding: 24, flex: 1, justifyContent: 'center', boxShadow: '0 4px 20px rgba(43,43,51,0.08)' }}&gt;&#10;            &lt;Text style={{ fontSize: 88, fontWeight: 'bold', color: '#F97316' }}&gt;3.17&lt;/Text&gt;&#10;            &lt;Text style={{ fontSize: 19, color: '#2B2B33', lineHeight: 1.5 }}&gt;基础库版本&lt;br /&gt;原生开发 + TS 类型安全&lt;/Text&gt;&#10;        &lt;/Box&gt;&#10;    &lt;/Box&gt;&#10;    &lt;Box style={{ position: 'absolute', left: 70, bottom: 16, width: 1140, flexDirection: 'row', justifyContent: 'space-between' }}&gt;&#10;        &lt;Text style={{ fontSize: 13, color: '#9A9AA3' }}&gt;First-Outfit · 小白穿衣推荐&lt;/Text&gt;&#10;        &lt;Text style={{ fontSize: 13, color: '#9A9AA3' }}&gt;07 / 09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666750" y="285750"/>
            <a:ext cx="59245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B2B33"/>
                </a:solidFill>
                <a:latin typeface="PingFang SC"/>
                <a:ea typeface="PingFang SC"/>
              </a:rPr>
              <a:t>06 · </a:t>
            </a:r>
            <a:r>
              <a:rPr lang="zh-CN" sz="2550" b="1">
                <a:solidFill>
                  <a:srgbClr val="2B2B33"/>
                </a:solidFill>
                <a:latin typeface="PingFang SC"/>
                <a:ea typeface="PingFang SC"/>
              </a:rPr>
              <a:t>技术底座：三层架构，无自建服务器</a:t>
            </a:r>
            <a:endParaRPr/>
          </a:p>
        </p:txBody>
      </p:sp>
      <p:sp>
        <p:nvSpPr>
          <p:cNvPr id="147" name="矩形: 圆角 146"/>
          <p:cNvSpPr/>
          <p:nvPr/>
        </p:nvSpPr>
        <p:spPr>
          <a:xfrm>
            <a:off x="10877550" y="333375"/>
            <a:ext cx="647700" cy="304800"/>
          </a:xfrm>
          <a:prstGeom prst="roundRect">
            <a:avLst>
              <a:gd name="adj" fmla="val 50000"/>
            </a:avLst>
          </a:prstGeom>
          <a:solidFill>
            <a:srgbClr val="FFDFC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11049000" y="390525"/>
            <a:ext cx="304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97316"/>
                </a:solidFill>
                <a:latin typeface="PingFang SC"/>
                <a:ea typeface="PingFang SC"/>
              </a:rPr>
              <a:t>架构</a:t>
            </a:r>
            <a:endParaRPr/>
          </a:p>
        </p:txBody>
      </p:sp>
      <p:sp>
        <p:nvSpPr>
          <p:cNvPr id="149" name="矩形: 圆角 148"/>
          <p:cNvSpPr/>
          <p:nvPr/>
        </p:nvSpPr>
        <p:spPr>
          <a:xfrm>
            <a:off x="666750" y="1009650"/>
            <a:ext cx="7810500" cy="485775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0" name="图形 14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1200150"/>
            <a:ext cx="7429500" cy="4476750"/>
          </a:xfrm>
          <a:prstGeom prst="rect">
            <a:avLst/>
          </a:prstGeom>
          <a:ln/>
        </p:spPr>
      </p:pic>
      <p:sp>
        <p:nvSpPr>
          <p:cNvPr id="151" name="矩形: 圆角 150"/>
          <p:cNvSpPr/>
          <p:nvPr/>
        </p:nvSpPr>
        <p:spPr>
          <a:xfrm>
            <a:off x="8858250" y="1009650"/>
            <a:ext cx="2667000" cy="2333625"/>
          </a:xfrm>
          <a:prstGeom prst="roundRect">
            <a:avLst>
              <a:gd name="adj" fmla="val 8163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9086850" y="1343025"/>
            <a:ext cx="22098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97316"/>
                </a:solidFill>
                <a:latin typeface="PingFang SC"/>
                <a:ea typeface="PingFang SC"/>
              </a:rPr>
              <a:t>0</a:t>
            </a:r>
            <a:endParaRPr/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9086850" y="2352675"/>
            <a:ext cx="2209800" cy="657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台自建服务器</a:t>
            </a:r>
            <a:endParaRPr/>
          </a:p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全部跑在微信云开发上</a:t>
            </a:r>
            <a:endParaRPr/>
          </a:p>
        </p:txBody>
      </p:sp>
      <p:sp>
        <p:nvSpPr>
          <p:cNvPr id="154" name="矩形: 圆角 153"/>
          <p:cNvSpPr/>
          <p:nvPr/>
        </p:nvSpPr>
        <p:spPr>
          <a:xfrm>
            <a:off x="8858250" y="3533775"/>
            <a:ext cx="2667000" cy="233362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9086850" y="3867150"/>
            <a:ext cx="2209800" cy="1009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97316"/>
                </a:solidFill>
                <a:latin typeface="PingFang SC"/>
                <a:ea typeface="PingFang SC"/>
              </a:rPr>
              <a:t>3.17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9086850" y="4876800"/>
            <a:ext cx="2209800" cy="657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2B2B33"/>
                </a:solidFill>
                <a:latin typeface="PingFang SC"/>
                <a:ea typeface="PingFang SC"/>
              </a:rPr>
              <a:t>基础库版本</a:t>
            </a:r>
            <a:endParaRPr/>
          </a:p>
          <a:p>
            <a:pPr>
              <a:lnSpc>
                <a:spcPct val="150000"/>
              </a:lnSpc>
            </a:pPr>
            <a:r>
              <a:rPr lang="zh-CN" sz="1425">
                <a:solidFill>
                  <a:srgbClr val="2B2B33"/>
                </a:solidFill>
                <a:latin typeface="PingFang SC"/>
                <a:ea typeface="PingFang SC"/>
              </a:rPr>
              <a:t>原生开发</a:t>
            </a:r>
            <a:r>
              <a:rPr lang="en-US" sz="1425">
                <a:solidFill>
                  <a:srgbClr val="2B2B33"/>
                </a:solidFill>
                <a:latin typeface="PingFang SC"/>
                <a:ea typeface="PingFang SC"/>
              </a:rPr>
              <a:t> + TS </a:t>
            </a:r>
            <a:r>
              <a:rPr lang="zh-CN" sz="1425">
                <a:solidFill>
                  <a:srgbClr val="2B2B33"/>
                </a:solidFill>
                <a:latin typeface="PingFang SC"/>
                <a:ea typeface="PingFang SC"/>
              </a:rPr>
              <a:t>类型安全</a:t>
            </a:r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666750" y="6553200"/>
            <a:ext cx="149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First-Outfit · </a:t>
            </a:r>
            <a:r>
              <a:rPr lang="zh-CN" sz="975">
                <a:solidFill>
                  <a:srgbClr val="9A9AA3"/>
                </a:solidFill>
                <a:latin typeface="PingFang SC"/>
                <a:ea typeface="PingFang SC"/>
              </a:rPr>
              <a:t>小白穿衣推荐</a:t>
            </a:r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11106150" y="65532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07 / 09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矩形 1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文本框 166" descr="{&quot;isTemplate&quot;:true,&quot;type&quot;:&quot;text&quot;}"/>
          <p:cNvSpPr txBox="1"/>
          <p:nvPr/>
        </p:nvSpPr>
        <p:spPr>
          <a:xfrm>
            <a:off x="666750" y="285750"/>
            <a:ext cx="23622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B2B33"/>
                </a:solidFill>
                <a:latin typeface="PingFang SC"/>
                <a:ea typeface="PingFang SC"/>
              </a:rPr>
              <a:t>07 · </a:t>
            </a:r>
            <a:r>
              <a:rPr lang="zh-CN" sz="2550" b="1">
                <a:solidFill>
                  <a:srgbClr val="2B2B33"/>
                </a:solidFill>
                <a:latin typeface="PingFang SC"/>
                <a:ea typeface="PingFang SC"/>
              </a:rPr>
              <a:t>收获与展望</a:t>
            </a:r>
            <a:endParaRPr/>
          </a:p>
        </p:txBody>
      </p:sp>
      <p:sp>
        <p:nvSpPr>
          <p:cNvPr id="162" name="矩形: 圆角 167"/>
          <p:cNvSpPr/>
          <p:nvPr/>
        </p:nvSpPr>
        <p:spPr>
          <a:xfrm>
            <a:off x="10877550" y="333375"/>
            <a:ext cx="647700" cy="304800"/>
          </a:xfrm>
          <a:prstGeom prst="roundRect">
            <a:avLst>
              <a:gd name="adj" fmla="val 50000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3" name="文本框 168" descr="{&quot;isTemplate&quot;:true,&quot;type&quot;:&quot;text&quot;}"/>
          <p:cNvSpPr txBox="1"/>
          <p:nvPr/>
        </p:nvSpPr>
        <p:spPr>
          <a:xfrm>
            <a:off x="11049000" y="390525"/>
            <a:ext cx="304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97316"/>
                </a:solidFill>
                <a:latin typeface="PingFang SC"/>
                <a:ea typeface="PingFang SC"/>
              </a:rPr>
              <a:t>总结</a:t>
            </a:r>
            <a:endParaRPr/>
          </a:p>
        </p:txBody>
      </p:sp>
      <p:sp>
        <p:nvSpPr>
          <p:cNvPr id="164" name="矩形: 圆角 169"/>
          <p:cNvSpPr/>
          <p:nvPr/>
        </p:nvSpPr>
        <p:spPr>
          <a:xfrm>
            <a:off x="666750" y="1028700"/>
            <a:ext cx="531495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2B2B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5" name="文本框 170" descr="{&quot;isTemplate&quot;:true,&quot;type&quot;:&quot;text&quot;}"/>
          <p:cNvSpPr txBox="1"/>
          <p:nvPr/>
        </p:nvSpPr>
        <p:spPr>
          <a:xfrm>
            <a:off x="933450" y="1295400"/>
            <a:ext cx="47815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B2B33"/>
                </a:solidFill>
                <a:latin typeface="PingFang SC"/>
                <a:ea typeface="PingFang SC"/>
              </a:rPr>
              <a:t>我学到了什么</a:t>
            </a:r>
            <a:endParaRPr/>
          </a:p>
        </p:txBody>
      </p:sp>
      <p:sp>
        <p:nvSpPr>
          <p:cNvPr id="166" name="矩形: 圆角 171"/>
          <p:cNvSpPr/>
          <p:nvPr/>
        </p:nvSpPr>
        <p:spPr>
          <a:xfrm>
            <a:off x="933450" y="18097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7" name="文本框 172" descr="{&quot;isTemplate&quot;:true,&quot;type&quot;:&quot;text&quot;}"/>
          <p:cNvSpPr txBox="1"/>
          <p:nvPr/>
        </p:nvSpPr>
        <p:spPr>
          <a:xfrm>
            <a:off x="1076325" y="1895475"/>
            <a:ext cx="133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168" name="文本框 173" descr="{&quot;isTemplate&quot;:true,&quot;type&quot;:&quot;text&quot;}"/>
          <p:cNvSpPr txBox="1"/>
          <p:nvPr/>
        </p:nvSpPr>
        <p:spPr>
          <a:xfrm>
            <a:off x="1504950" y="1809750"/>
            <a:ext cx="42100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B2B33"/>
                </a:solidFill>
                <a:latin typeface="PingFang SC"/>
                <a:ea typeface="PingFang SC"/>
              </a:rPr>
              <a:t>降级设计思维</a:t>
            </a:r>
            <a:endParaRPr/>
          </a:p>
        </p:txBody>
      </p:sp>
      <p:sp>
        <p:nvSpPr>
          <p:cNvPr id="169" name="文本框 174" descr="{&quot;isTemplate&quot;:true,&quot;type&quot;:&quot;text&quot;}"/>
          <p:cNvSpPr txBox="1"/>
          <p:nvPr/>
        </p:nvSpPr>
        <p:spPr>
          <a:xfrm>
            <a:off x="1504950" y="2114550"/>
            <a:ext cx="42100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天气兜底、定位降级、流式降级——任何外部依赖失效都要有安全方案，用户体验不能「炸」</a:t>
            </a:r>
            <a:endParaRPr/>
          </a:p>
        </p:txBody>
      </p:sp>
      <p:sp>
        <p:nvSpPr>
          <p:cNvPr id="170" name="矩形: 圆角 175"/>
          <p:cNvSpPr/>
          <p:nvPr/>
        </p:nvSpPr>
        <p:spPr>
          <a:xfrm>
            <a:off x="933450" y="2914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1" name="文本框 176" descr="{&quot;isTemplate&quot;:true,&quot;type&quot;:&quot;text&quot;}"/>
          <p:cNvSpPr txBox="1"/>
          <p:nvPr/>
        </p:nvSpPr>
        <p:spPr>
          <a:xfrm>
            <a:off x="1076325" y="3000375"/>
            <a:ext cx="133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172" name="文本框 177" descr="{&quot;isTemplate&quot;:true,&quot;type&quot;:&quot;text&quot;}"/>
          <p:cNvSpPr txBox="1"/>
          <p:nvPr/>
        </p:nvSpPr>
        <p:spPr>
          <a:xfrm>
            <a:off x="1504950" y="2914650"/>
            <a:ext cx="42100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B2B33"/>
                </a:solidFill>
                <a:latin typeface="PingFang SC"/>
                <a:ea typeface="PingFang SC"/>
              </a:rPr>
              <a:t>「规则</a:t>
            </a:r>
            <a:r>
              <a:rPr lang="en-US" sz="1575" b="1">
                <a:solidFill>
                  <a:srgbClr val="2B2B33"/>
                </a:solidFill>
                <a:latin typeface="PingFang SC"/>
                <a:ea typeface="PingFang SC"/>
              </a:rPr>
              <a:t> + AI</a:t>
            </a:r>
            <a:r>
              <a:rPr lang="zh-CN" sz="1575" b="1">
                <a:solidFill>
                  <a:srgbClr val="2B2B33"/>
                </a:solidFill>
                <a:latin typeface="PingFang SC"/>
                <a:ea typeface="PingFang SC"/>
              </a:rPr>
              <a:t>」混合架构</a:t>
            </a:r>
            <a:endParaRPr/>
          </a:p>
        </p:txBody>
      </p:sp>
      <p:sp>
        <p:nvSpPr>
          <p:cNvPr id="173" name="文本框 178" descr="{&quot;isTemplate&quot;:true,&quot;type&quot;:&quot;text&quot;}"/>
          <p:cNvSpPr txBox="1"/>
          <p:nvPr/>
        </p:nvSpPr>
        <p:spPr>
          <a:xfrm>
            <a:off x="1504950" y="3219450"/>
            <a:ext cx="42100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核心决策用确定性规则（可解释、可控），</a:t>
            </a:r>
            <a:r>
              <a:rPr lang="en-US" sz="1275">
                <a:solidFill>
                  <a:srgbClr val="6B6B75"/>
                </a:solidFill>
                <a:latin typeface="PingFang SC"/>
                <a:ea typeface="PingFang SC"/>
              </a:rPr>
              <a:t>AI </a:t>
            </a: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只做问答兜底，各司其职</a:t>
            </a:r>
            <a:endParaRPr/>
          </a:p>
        </p:txBody>
      </p:sp>
      <p:sp>
        <p:nvSpPr>
          <p:cNvPr id="174" name="矩形: 圆角 179"/>
          <p:cNvSpPr/>
          <p:nvPr/>
        </p:nvSpPr>
        <p:spPr>
          <a:xfrm>
            <a:off x="933450" y="40195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5" name="文本框 180" descr="{&quot;isTemplate&quot;:true,&quot;type&quot;:&quot;text&quot;}"/>
          <p:cNvSpPr txBox="1"/>
          <p:nvPr/>
        </p:nvSpPr>
        <p:spPr>
          <a:xfrm>
            <a:off x="1076325" y="4105275"/>
            <a:ext cx="133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176" name="文本框 181" descr="{&quot;isTemplate&quot;:true,&quot;type&quot;:&quot;text&quot;}"/>
          <p:cNvSpPr txBox="1"/>
          <p:nvPr/>
        </p:nvSpPr>
        <p:spPr>
          <a:xfrm>
            <a:off x="1504950" y="4019550"/>
            <a:ext cx="42100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B2B33"/>
                </a:solidFill>
                <a:latin typeface="PingFang SC"/>
                <a:ea typeface="PingFang SC"/>
              </a:rPr>
              <a:t>为真实用户做减法</a:t>
            </a:r>
            <a:endParaRPr/>
          </a:p>
        </p:txBody>
      </p:sp>
      <p:sp>
        <p:nvSpPr>
          <p:cNvPr id="177" name="文本框 182" descr="{&quot;isTemplate&quot;:true,&quot;type&quot;:&quot;text&quot;}"/>
          <p:cNvSpPr txBox="1"/>
          <p:nvPr/>
        </p:nvSpPr>
        <p:spPr>
          <a:xfrm>
            <a:off x="1504950" y="4324350"/>
            <a:ext cx="42100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6B6B75"/>
                </a:solidFill>
                <a:latin typeface="PingFang SC"/>
                <a:ea typeface="PingFang SC"/>
              </a:rPr>
              <a:t>没有登录、没有社交、打开即用；功能不在多，在「真的能帮到穿衣小白」</a:t>
            </a:r>
            <a:endParaRPr/>
          </a:p>
        </p:txBody>
      </p:sp>
      <p:sp>
        <p:nvSpPr>
          <p:cNvPr id="178" name="矩形: 圆角 183"/>
          <p:cNvSpPr/>
          <p:nvPr/>
        </p:nvSpPr>
        <p:spPr>
          <a:xfrm>
            <a:off x="6210300" y="1028700"/>
            <a:ext cx="5314950" cy="4762500"/>
          </a:xfrm>
          <a:prstGeom prst="roundRect">
            <a:avLst>
              <a:gd name="adj" fmla="val 4000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9" name="文本框 184" descr="{&quot;isTemplate&quot;:true,&quot;type&quot;:&quot;text&quot;}"/>
          <p:cNvSpPr txBox="1"/>
          <p:nvPr/>
        </p:nvSpPr>
        <p:spPr>
          <a:xfrm>
            <a:off x="6477000" y="1295400"/>
            <a:ext cx="47815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B2B33"/>
                </a:solidFill>
                <a:latin typeface="PingFang SC"/>
                <a:ea typeface="PingFang SC"/>
              </a:rPr>
              <a:t>下一步计划（代码已就绪，待接入口）</a:t>
            </a:r>
            <a:endParaRPr/>
          </a:p>
        </p:txBody>
      </p:sp>
      <p:sp>
        <p:nvSpPr>
          <p:cNvPr id="180" name="矩形: 圆角 185"/>
          <p:cNvSpPr/>
          <p:nvPr/>
        </p:nvSpPr>
        <p:spPr>
          <a:xfrm>
            <a:off x="6477000" y="19907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文本框 186" descr="{&quot;isTemplate&quot;:true,&quot;type&quot;:&quot;text&quot;}"/>
          <p:cNvSpPr txBox="1"/>
          <p:nvPr/>
        </p:nvSpPr>
        <p:spPr>
          <a:xfrm>
            <a:off x="6724650" y="1790700"/>
            <a:ext cx="4533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B33"/>
                </a:solidFill>
                <a:latin typeface="PingFang SC"/>
                <a:ea typeface="PingFang SC"/>
              </a:rPr>
              <a:t>每日穿搭打卡</a:t>
            </a:r>
            <a:endParaRPr/>
          </a:p>
        </p:txBody>
      </p:sp>
      <p:sp>
        <p:nvSpPr>
          <p:cNvPr id="182" name="文本框 187" descr="{&quot;isTemplate&quot;:true,&quot;type&quot;:&quot;text&quot;}"/>
          <p:cNvSpPr txBox="1"/>
          <p:nvPr/>
        </p:nvSpPr>
        <p:spPr>
          <a:xfrm>
            <a:off x="6724650" y="2019300"/>
            <a:ext cx="4533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38">
                <a:solidFill>
                  <a:srgbClr val="6B6B75"/>
                </a:solidFill>
                <a:latin typeface="PingFang SC"/>
                <a:ea typeface="PingFang SC"/>
              </a:rPr>
              <a:t>记录服务、去重与云数据库集合已就绪，缺首页入口按钮</a:t>
            </a:r>
            <a:endParaRPr/>
          </a:p>
        </p:txBody>
      </p:sp>
      <p:sp>
        <p:nvSpPr>
          <p:cNvPr id="183" name="矩形: 圆角 188"/>
          <p:cNvSpPr/>
          <p:nvPr/>
        </p:nvSpPr>
        <p:spPr>
          <a:xfrm>
            <a:off x="6477000" y="2686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文本框 189" descr="{&quot;isTemplate&quot;:true,&quot;type&quot;:&quot;text&quot;}"/>
          <p:cNvSpPr txBox="1"/>
          <p:nvPr/>
        </p:nvSpPr>
        <p:spPr>
          <a:xfrm>
            <a:off x="6724650" y="2486025"/>
            <a:ext cx="4533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B33"/>
                </a:solidFill>
                <a:latin typeface="PingFang SC"/>
                <a:ea typeface="PingFang SC"/>
              </a:rPr>
              <a:t>个人风采库</a:t>
            </a:r>
            <a:endParaRPr/>
          </a:p>
        </p:txBody>
      </p:sp>
      <p:sp>
        <p:nvSpPr>
          <p:cNvPr id="185" name="文本框 190" descr="{&quot;isTemplate&quot;:true,&quot;type&quot;:&quot;text&quot;}"/>
          <p:cNvSpPr txBox="1"/>
          <p:nvPr/>
        </p:nvSpPr>
        <p:spPr>
          <a:xfrm>
            <a:off x="6724650" y="2714625"/>
            <a:ext cx="4533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38">
                <a:solidFill>
                  <a:srgbClr val="6B6B75"/>
                </a:solidFill>
                <a:latin typeface="PingFang SC"/>
                <a:ea typeface="PingFang SC"/>
              </a:rPr>
              <a:t>瀑布流页面与管理批量删除已完成，等接入跳转入口</a:t>
            </a:r>
            <a:endParaRPr/>
          </a:p>
        </p:txBody>
      </p:sp>
      <p:sp>
        <p:nvSpPr>
          <p:cNvPr id="186" name="矩形: 圆角 191"/>
          <p:cNvSpPr/>
          <p:nvPr/>
        </p:nvSpPr>
        <p:spPr>
          <a:xfrm>
            <a:off x="6477000" y="3381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" name="文本框 192" descr="{&quot;isTemplate&quot;:true,&quot;type&quot;:&quot;text&quot;}"/>
          <p:cNvSpPr txBox="1"/>
          <p:nvPr/>
        </p:nvSpPr>
        <p:spPr>
          <a:xfrm>
            <a:off x="6724650" y="3181350"/>
            <a:ext cx="4533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B33"/>
                </a:solidFill>
                <a:latin typeface="PingFang SC"/>
                <a:ea typeface="PingFang SC"/>
              </a:rPr>
              <a:t>意见反馈弹窗</a:t>
            </a:r>
            <a:endParaRPr/>
          </a:p>
        </p:txBody>
      </p:sp>
      <p:sp>
        <p:nvSpPr>
          <p:cNvPr id="188" name="文本框 193" descr="{&quot;isTemplate&quot;:true,&quot;type&quot;:&quot;text&quot;}"/>
          <p:cNvSpPr txBox="1"/>
          <p:nvPr/>
        </p:nvSpPr>
        <p:spPr>
          <a:xfrm>
            <a:off x="6724650" y="3409950"/>
            <a:ext cx="4533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38">
                <a:solidFill>
                  <a:srgbClr val="6B6B75"/>
                </a:solidFill>
                <a:latin typeface="PingFang SC"/>
                <a:ea typeface="PingFang SC"/>
              </a:rPr>
              <a:t>云函数与数据集合就绪，等做输入弹窗</a:t>
            </a:r>
            <a:endParaRPr/>
          </a:p>
        </p:txBody>
      </p:sp>
      <p:sp>
        <p:nvSpPr>
          <p:cNvPr id="189" name="矩形: 圆角 194"/>
          <p:cNvSpPr/>
          <p:nvPr/>
        </p:nvSpPr>
        <p:spPr>
          <a:xfrm>
            <a:off x="6477000" y="4076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文本框 195" descr="{&quot;isTemplate&quot;:true,&quot;type&quot;:&quot;text&quot;}"/>
          <p:cNvSpPr txBox="1"/>
          <p:nvPr/>
        </p:nvSpPr>
        <p:spPr>
          <a:xfrm>
            <a:off x="6724650" y="3876675"/>
            <a:ext cx="4533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2B33"/>
                </a:solidFill>
                <a:latin typeface="PingFang SC"/>
                <a:ea typeface="PingFang SC"/>
              </a:rPr>
              <a:t>规则持续细化</a:t>
            </a:r>
            <a:endParaRPr/>
          </a:p>
        </p:txBody>
      </p:sp>
      <p:sp>
        <p:nvSpPr>
          <p:cNvPr id="191" name="文本框 196" descr="{&quot;isTemplate&quot;:true,&quot;type&quot;:&quot;text&quot;}"/>
          <p:cNvSpPr txBox="1"/>
          <p:nvPr/>
        </p:nvSpPr>
        <p:spPr>
          <a:xfrm>
            <a:off x="6724650" y="4105275"/>
            <a:ext cx="4533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38">
                <a:solidFill>
                  <a:srgbClr val="6B6B75"/>
                </a:solidFill>
                <a:latin typeface="PingFang SC"/>
                <a:ea typeface="PingFang SC"/>
              </a:rPr>
              <a:t>更多温度带与场合组合，覆盖更极端天气</a:t>
            </a:r>
            <a:endParaRPr/>
          </a:p>
        </p:txBody>
      </p:sp>
      <p:sp>
        <p:nvSpPr>
          <p:cNvPr id="192" name="文本框 197" descr="{&quot;isTemplate&quot;:true,&quot;type&quot;:&quot;text&quot;}"/>
          <p:cNvSpPr txBox="1"/>
          <p:nvPr/>
        </p:nvSpPr>
        <p:spPr>
          <a:xfrm>
            <a:off x="6477000" y="4572000"/>
            <a:ext cx="47815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6B6B75"/>
                </a:solidFill>
                <a:latin typeface="PingFang SC"/>
                <a:ea typeface="PingFang SC"/>
              </a:rPr>
              <a:t>工程诚实：未完成的功能不隐藏，代码保留待后续版本接入。</a:t>
            </a:r>
            <a:endParaRPr/>
          </a:p>
        </p:txBody>
      </p:sp>
      <p:sp>
        <p:nvSpPr>
          <p:cNvPr id="193" name="文本框 198" descr="{&quot;isTemplate&quot;:true,&quot;type&quot;:&quot;text&quot;}"/>
          <p:cNvSpPr txBox="1"/>
          <p:nvPr/>
        </p:nvSpPr>
        <p:spPr>
          <a:xfrm>
            <a:off x="666750" y="6553200"/>
            <a:ext cx="149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First-Outfit · </a:t>
            </a:r>
            <a:r>
              <a:rPr lang="zh-CN" sz="975">
                <a:solidFill>
                  <a:srgbClr val="9A9AA3"/>
                </a:solidFill>
                <a:latin typeface="PingFang SC"/>
                <a:ea typeface="PingFang SC"/>
              </a:rPr>
              <a:t>小白穿衣推荐</a:t>
            </a:r>
            <a:endParaRPr/>
          </a:p>
        </p:txBody>
      </p:sp>
      <p:sp>
        <p:nvSpPr>
          <p:cNvPr id="194" name="文本框 199" descr="{&quot;isTemplate&quot;:true,&quot;type&quot;:&quot;text&quot;}"/>
          <p:cNvSpPr txBox="1"/>
          <p:nvPr/>
        </p:nvSpPr>
        <p:spPr>
          <a:xfrm>
            <a:off x="11106150" y="65532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A9AA3"/>
                </a:solidFill>
                <a:latin typeface="PingFang SC"/>
                <a:ea typeface="PingFang SC"/>
              </a:rPr>
              <a:t>08 / 09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2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7" name="图片 202"/>
          <p:cNvPicPr>
            <a:picLocks noChangeAspect="1"/>
          </p:cNvPicPr>
          <p:nvPr/>
        </p:nvPicPr>
        <p:blipFill>
          <a:blip r:embed="rId2"/>
          <a:srcRect l="21296" r="21296"/>
          <a:stretch>
            <a:fillRect/>
          </a:stretch>
        </p:blipFill>
        <p:spPr>
          <a:xfrm>
            <a:off x="6286500" y="0"/>
            <a:ext cx="5905500" cy="6858000"/>
          </a:xfrm>
          <a:custGeom>
            <a:avLst/>
            <a:gdLst/>
            <a:ahLst/>
            <a:cxnLst/>
            <a:rect l="0" t="0" r="0" b="0"/>
            <a:pathLst>
              <a:path w="620" h="720">
                <a:moveTo>
                  <a:pt x="74" y="0"/>
                </a:moveTo>
                <a:lnTo>
                  <a:pt x="620" y="0"/>
                </a:lnTo>
                <a:lnTo>
                  <a:pt x="620" y="720"/>
                </a:lnTo>
                <a:lnTo>
                  <a:pt x="74" y="720"/>
                </a:lnTo>
                <a:close/>
              </a:path>
            </a:pathLst>
          </a:custGeom>
          <a:ln/>
        </p:spPr>
      </p:pic>
      <p:sp>
        <p:nvSpPr>
          <p:cNvPr id="198" name="文本框 203" descr="{&quot;isTemplate&quot;:true,&quot;type&quot;:&quot;text&quot;}"/>
          <p:cNvSpPr txBox="1"/>
          <p:nvPr/>
        </p:nvSpPr>
        <p:spPr>
          <a:xfrm>
            <a:off x="762000" y="476250"/>
            <a:ext cx="5334000" cy="3952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4800" b="1" dirty="0">
                <a:solidFill>
                  <a:srgbClr val="2B2B33"/>
                </a:solidFill>
                <a:latin typeface="PingFang SC"/>
                <a:ea typeface="PingFang SC"/>
              </a:rPr>
              <a:t>它不教你变时尚，</a:t>
            </a:r>
            <a:endParaRPr dirty="0"/>
          </a:p>
          <a:p>
            <a:pPr>
              <a:lnSpc>
                <a:spcPct val="135000"/>
              </a:lnSpc>
            </a:pPr>
            <a:r>
              <a:rPr lang="zh-CN" sz="4800" b="1" dirty="0">
                <a:solidFill>
                  <a:srgbClr val="2B2B33"/>
                </a:solidFill>
                <a:latin typeface="PingFang SC"/>
                <a:ea typeface="PingFang SC"/>
              </a:rPr>
              <a:t>只告诉你</a:t>
            </a:r>
            <a:r>
              <a:rPr lang="zh-CN" sz="4800" b="1" dirty="0">
                <a:solidFill>
                  <a:srgbClr val="F97316"/>
                </a:solidFill>
                <a:latin typeface="PingFang SC"/>
                <a:ea typeface="PingFang SC"/>
              </a:rPr>
              <a:t>今天穿什么</a:t>
            </a:r>
            <a:r>
              <a:rPr lang="zh-CN" sz="4800" b="1" dirty="0">
                <a:solidFill>
                  <a:srgbClr val="2B2B33"/>
                </a:solidFill>
                <a:latin typeface="PingFang SC"/>
                <a:ea typeface="PingFang SC"/>
              </a:rPr>
              <a:t>，</a:t>
            </a:r>
            <a:endParaRPr dirty="0"/>
          </a:p>
          <a:p>
            <a:pPr>
              <a:lnSpc>
                <a:spcPct val="135000"/>
              </a:lnSpc>
            </a:pPr>
            <a:r>
              <a:rPr lang="zh-CN" sz="4800" b="1" dirty="0">
                <a:solidFill>
                  <a:srgbClr val="2B2B33"/>
                </a:solidFill>
                <a:latin typeface="PingFang SC"/>
                <a:ea typeface="PingFang SC"/>
              </a:rPr>
              <a:t>不会出错。</a:t>
            </a:r>
            <a:endParaRPr dirty="0"/>
          </a:p>
        </p:txBody>
      </p:sp>
      <p:sp>
        <p:nvSpPr>
          <p:cNvPr id="199" name="矩形: 圆角 204"/>
          <p:cNvSpPr/>
          <p:nvPr/>
        </p:nvSpPr>
        <p:spPr>
          <a:xfrm>
            <a:off x="762000" y="4733925"/>
            <a:ext cx="6096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0" name="文本框 205" descr="{&quot;isTemplate&quot;:true,&quot;type&quot;:&quot;text&quot;}"/>
          <p:cNvSpPr txBox="1"/>
          <p:nvPr/>
        </p:nvSpPr>
        <p:spPr>
          <a:xfrm>
            <a:off x="762000" y="5114925"/>
            <a:ext cx="53340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B2B33"/>
                </a:solidFill>
                <a:latin typeface="PingFang SC"/>
                <a:ea typeface="PingFang SC"/>
              </a:rPr>
              <a:t>谢谢聆听</a:t>
            </a:r>
            <a:r>
              <a:rPr lang="en-US" sz="1950" b="1">
                <a:solidFill>
                  <a:srgbClr val="2B2B33"/>
                </a:solidFill>
                <a:latin typeface="PingFang SC"/>
                <a:ea typeface="PingFang SC"/>
              </a:rPr>
              <a:t> · </a:t>
            </a:r>
            <a:r>
              <a:rPr lang="zh-CN" sz="1950" b="1">
                <a:solidFill>
                  <a:srgbClr val="2B2B33"/>
                </a:solidFill>
                <a:latin typeface="PingFang SC"/>
                <a:ea typeface="PingFang SC"/>
              </a:rPr>
              <a:t>欢迎提问</a:t>
            </a:r>
            <a:endParaRPr/>
          </a:p>
        </p:txBody>
      </p:sp>
      <p:sp>
        <p:nvSpPr>
          <p:cNvPr id="201" name="文本框 206" descr="{&quot;isTemplate&quot;:true,&quot;type&quot;:&quot;text&quot;}"/>
          <p:cNvSpPr txBox="1"/>
          <p:nvPr/>
        </p:nvSpPr>
        <p:spPr>
          <a:xfrm>
            <a:off x="762000" y="5724525"/>
            <a:ext cx="53340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350">
                <a:solidFill>
                  <a:srgbClr val="6B6B75"/>
                </a:solidFill>
                <a:latin typeface="PingFang SC"/>
                <a:ea typeface="PingFang SC"/>
              </a:rPr>
              <a:t>First-Outfit · </a:t>
            </a:r>
            <a:r>
              <a:rPr lang="zh-CN" sz="1350">
                <a:solidFill>
                  <a:srgbClr val="6B6B75"/>
                </a:solidFill>
                <a:latin typeface="PingFang SC"/>
                <a:ea typeface="PingFang SC"/>
              </a:rPr>
              <a:t>小白穿衣推荐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6B6B75"/>
                </a:solidFill>
                <a:latin typeface="PingFang SC"/>
                <a:ea typeface="PingFang SC"/>
              </a:rPr>
              <a:t>微信小程序原生</a:t>
            </a:r>
            <a:r>
              <a:rPr lang="en-US" sz="1350">
                <a:solidFill>
                  <a:srgbClr val="6B6B75"/>
                </a:solidFill>
                <a:latin typeface="PingFang SC"/>
                <a:ea typeface="PingFang SC"/>
              </a:rPr>
              <a:t> + TypeScript + </a:t>
            </a:r>
            <a:r>
              <a:rPr lang="zh-CN" sz="1350">
                <a:solidFill>
                  <a:srgbClr val="6B6B75"/>
                </a:solidFill>
                <a:latin typeface="PingFang SC"/>
                <a:ea typeface="PingFang SC"/>
              </a:rPr>
              <a:t>微信云开发</a:t>
            </a: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6EC5D2-DA76-4EE2-868A-C4D116BAD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334" y="2551195"/>
            <a:ext cx="2863516" cy="27647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Microsoft Office PowerPoint</Application>
  <PresentationFormat>宽屏</PresentationFormat>
  <Paragraphs>126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PingFang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kiro666</cp:lastModifiedBy>
  <cp:revision>1</cp:revision>
  <dcterms:created xsi:type="dcterms:W3CDTF">2026-10-24T22:52:41Z</dcterms:created>
  <dcterms:modified xsi:type="dcterms:W3CDTF">2026-10-24T14:55:14Z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{"AIGC":{"Label":"1","ContentProducer":"00119111010856365494821B355","ProduceID":"01a16e3746d77e108982928388e9a5a2","ReservedCode1":"","ContentPropagator":"00119111010856365494821B355","PropagateID":"01a16e3746d77e108982928388e9a5a2","ReservedCode2":""}}</vt:lpwstr>
  </property>
</Properties>
</file>